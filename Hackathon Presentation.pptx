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63" r:id="rId5"/>
    <p:sldId id="264" r:id="rId6"/>
    <p:sldId id="259" r:id="rId7"/>
    <p:sldId id="260" r:id="rId8"/>
    <p:sldId id="265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0"/>
  </p:normalViewPr>
  <p:slideViewPr>
    <p:cSldViewPr>
      <p:cViewPr varScale="1">
        <p:scale>
          <a:sx n="87" d="100"/>
          <a:sy n="87" d="100"/>
        </p:scale>
        <p:origin x="-146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200400"/>
            <a:ext cx="7772400" cy="1470025"/>
          </a:xfrm>
        </p:spPr>
        <p:txBody>
          <a:bodyPr>
            <a:noAutofit/>
          </a:bodyPr>
          <a:lstStyle/>
          <a:p>
            <a:r>
              <a:rPr lang="en-US" sz="2400" b="1" dirty="0"/>
              <a:t>“ResNet-18 and DenseNet-121 Architectures for OCT Retinal Analysis: Effects of Transfer Learning, Data Augmentation, Fine-Tuning Strategies and Model Calibration</a:t>
            </a:r>
            <a:r>
              <a:rPr lang="en-US" sz="2400" b="1" dirty="0" smtClean="0"/>
              <a:t>”</a:t>
            </a:r>
            <a:endParaRPr lang="el-GR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953000"/>
            <a:ext cx="6400800" cy="16764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George </a:t>
            </a:r>
            <a:r>
              <a:rPr lang="en-US" sz="2000" dirty="0" err="1">
                <a:solidFill>
                  <a:schemeClr val="tx1"/>
                </a:solidFill>
              </a:rPr>
              <a:t>Dikaios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 err="1">
                <a:solidFill>
                  <a:schemeClr val="tx1"/>
                </a:solidFill>
              </a:rPr>
              <a:t>Emmanouil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Amargianitakis</a:t>
            </a:r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DAMA </a:t>
            </a:r>
            <a:r>
              <a:rPr lang="en-US" sz="1800" dirty="0" err="1">
                <a:solidFill>
                  <a:schemeClr val="tx1"/>
                </a:solidFill>
              </a:rPr>
              <a:t>Hackathon</a:t>
            </a:r>
            <a:r>
              <a:rPr lang="en-US" sz="1800" dirty="0">
                <a:solidFill>
                  <a:schemeClr val="tx1"/>
                </a:solidFill>
              </a:rPr>
              <a:t>, 2026</a:t>
            </a:r>
            <a:endParaRPr lang="el-GR" sz="1800" dirty="0">
              <a:solidFill>
                <a:schemeClr val="tx1"/>
              </a:solidFill>
            </a:endParaRPr>
          </a:p>
        </p:txBody>
      </p:sp>
      <p:pic>
        <p:nvPicPr>
          <p:cNvPr id="2052" name="Picture 4" descr="C:\Users\PC\Downloads\deep_learning_top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7481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"/>
            <a:ext cx="8229600" cy="739140"/>
          </a:xfrm>
        </p:spPr>
        <p:txBody>
          <a:bodyPr>
            <a:normAutofit/>
          </a:bodyPr>
          <a:lstStyle/>
          <a:p>
            <a:r>
              <a:rPr lang="en-US" sz="2400" b="1" dirty="0"/>
              <a:t>Retinal diseases and OCT-scans for detection</a:t>
            </a:r>
            <a:endParaRPr lang="el-GR" sz="2400" b="1" dirty="0"/>
          </a:p>
        </p:txBody>
      </p:sp>
      <p:grpSp>
        <p:nvGrpSpPr>
          <p:cNvPr id="37" name="Group 36"/>
          <p:cNvGrpSpPr/>
          <p:nvPr/>
        </p:nvGrpSpPr>
        <p:grpSpPr>
          <a:xfrm>
            <a:off x="853435" y="4876800"/>
            <a:ext cx="6781801" cy="1642113"/>
            <a:chOff x="-289565" y="0"/>
            <a:chExt cx="6781801" cy="1642113"/>
          </a:xfrm>
        </p:grpSpPr>
        <p:grpSp>
          <p:nvGrpSpPr>
            <p:cNvPr id="38" name="Group 37"/>
            <p:cNvGrpSpPr/>
            <p:nvPr/>
          </p:nvGrpSpPr>
          <p:grpSpPr>
            <a:xfrm>
              <a:off x="-289565" y="0"/>
              <a:ext cx="6781801" cy="1642113"/>
              <a:chOff x="-289594" y="0"/>
              <a:chExt cx="6782474" cy="1645795"/>
            </a:xfrm>
          </p:grpSpPr>
          <p:sp>
            <p:nvSpPr>
              <p:cNvPr id="44" name="Text Box 1"/>
              <p:cNvSpPr txBox="1"/>
              <p:nvPr/>
            </p:nvSpPr>
            <p:spPr>
              <a:xfrm>
                <a:off x="-289594" y="1327428"/>
                <a:ext cx="6782474" cy="318367"/>
              </a:xfrm>
              <a:prstGeom prst="rect">
                <a:avLst/>
              </a:prstGeom>
              <a:solidFill>
                <a:prstClr val="white"/>
              </a:solidFill>
              <a:ln>
                <a:noFill/>
              </a:ln>
            </p:spPr>
            <p:txBody>
              <a:bodyPr rot="0" spcFirstLastPara="0" vert="horz" wrap="square" lIns="0" tIns="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spcAft>
                    <a:spcPts val="1000"/>
                  </a:spcAft>
                </a:pPr>
                <a:r>
                  <a:rPr lang="en-US" sz="1000" b="1" i="1" dirty="0">
                    <a:solidFill>
                      <a:srgbClr val="0070C0"/>
                    </a:solidFill>
                    <a:effectLst/>
                    <a:latin typeface="Calibri"/>
                    <a:ea typeface="Calibri"/>
                    <a:cs typeface="Arial"/>
                  </a:rPr>
                  <a:t>Figure 1:</a:t>
                </a:r>
                <a:r>
                  <a:rPr lang="en-US" sz="1000" i="1" dirty="0">
                    <a:solidFill>
                      <a:srgbClr val="0070C0"/>
                    </a:solidFill>
                    <a:effectLst/>
                    <a:latin typeface="Calibri"/>
                    <a:ea typeface="Calibri"/>
                    <a:cs typeface="Arial"/>
                  </a:rPr>
                  <a:t> (a) </a:t>
                </a:r>
                <a:r>
                  <a:rPr lang="en-US" sz="1000" i="1" dirty="0" err="1">
                    <a:solidFill>
                      <a:srgbClr val="0070C0"/>
                    </a:solidFill>
                    <a:effectLst/>
                    <a:latin typeface="Calibri"/>
                    <a:ea typeface="Calibri"/>
                    <a:cs typeface="Arial"/>
                  </a:rPr>
                  <a:t>Choroidal</a:t>
                </a:r>
                <a:r>
                  <a:rPr lang="en-US" sz="1000" i="1" dirty="0">
                    <a:solidFill>
                      <a:srgbClr val="0070C0"/>
                    </a:solidFill>
                    <a:effectLst/>
                    <a:latin typeface="Calibri"/>
                    <a:ea typeface="Calibri"/>
                    <a:cs typeface="Arial"/>
                  </a:rPr>
                  <a:t> Neovascularization, (b) Diabetic Macular Edema, </a:t>
                </a:r>
                <a:r>
                  <a:rPr lang="en-US" sz="1000" i="1" dirty="0" smtClean="0">
                    <a:solidFill>
                      <a:srgbClr val="0070C0"/>
                    </a:solidFill>
                    <a:effectLst/>
                    <a:latin typeface="Calibri"/>
                    <a:ea typeface="Calibri"/>
                    <a:cs typeface="Arial"/>
                  </a:rPr>
                  <a:t>(c) </a:t>
                </a:r>
                <a:r>
                  <a:rPr lang="en-US" sz="1000" i="1" dirty="0" err="1">
                    <a:solidFill>
                      <a:srgbClr val="0070C0"/>
                    </a:solidFill>
                    <a:effectLst/>
                    <a:latin typeface="Calibri"/>
                    <a:ea typeface="Calibri"/>
                    <a:cs typeface="Arial"/>
                  </a:rPr>
                  <a:t>Drusen</a:t>
                </a:r>
                <a:r>
                  <a:rPr lang="en-US" sz="1000" i="1" dirty="0">
                    <a:solidFill>
                      <a:srgbClr val="0070C0"/>
                    </a:solidFill>
                    <a:effectLst/>
                    <a:latin typeface="Calibri"/>
                    <a:ea typeface="Calibri"/>
                    <a:cs typeface="Arial"/>
                  </a:rPr>
                  <a:t> and (d) Normal [taken from Kumar et al. 2017]</a:t>
                </a:r>
                <a:endParaRPr lang="el-GR" sz="1000" i="1" dirty="0">
                  <a:solidFill>
                    <a:srgbClr val="0070C0"/>
                  </a:solidFill>
                  <a:effectLst/>
                  <a:latin typeface="Calibri"/>
                  <a:ea typeface="Calibri"/>
                  <a:cs typeface="Arial"/>
                </a:endParaRPr>
              </a:p>
              <a:p>
                <a:pPr algn="just">
                  <a:spcAft>
                    <a:spcPts val="1000"/>
                  </a:spcAft>
                </a:pPr>
                <a:r>
                  <a:rPr lang="en-US" sz="1050" i="1" dirty="0">
                    <a:solidFill>
                      <a:srgbClr val="0070C0"/>
                    </a:solidFill>
                    <a:effectLst/>
                    <a:latin typeface="Calibri"/>
                    <a:ea typeface="Calibri"/>
                    <a:cs typeface="Arial"/>
                  </a:rPr>
                  <a:t> </a:t>
                </a:r>
                <a:endParaRPr lang="el-GR" sz="1000" i="1" dirty="0">
                  <a:solidFill>
                    <a:srgbClr val="0070C0"/>
                  </a:solidFill>
                  <a:effectLst/>
                  <a:latin typeface="Calibri"/>
                  <a:ea typeface="Calibri"/>
                  <a:cs typeface="Arial"/>
                </a:endParaRPr>
              </a:p>
            </p:txBody>
          </p:sp>
          <p:grpSp>
            <p:nvGrpSpPr>
              <p:cNvPr id="45" name="Group 44"/>
              <p:cNvGrpSpPr/>
              <p:nvPr/>
            </p:nvGrpSpPr>
            <p:grpSpPr>
              <a:xfrm>
                <a:off x="0" y="0"/>
                <a:ext cx="6273711" cy="1311910"/>
                <a:chOff x="0" y="0"/>
                <a:chExt cx="6274008" cy="1311965"/>
              </a:xfrm>
            </p:grpSpPr>
            <p:pic>
              <p:nvPicPr>
                <p:cNvPr id="46" name="Picture 45" descr="C:\Users\PC\Downloads\oct_images.png"/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rightnessContrast bright="2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46557"/>
                  <a:ext cx="6203583" cy="126540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47" name="Group 46"/>
                <p:cNvGrpSpPr/>
                <p:nvPr/>
              </p:nvGrpSpPr>
              <p:grpSpPr>
                <a:xfrm>
                  <a:off x="1065474" y="0"/>
                  <a:ext cx="5208534" cy="341630"/>
                  <a:chOff x="0" y="0"/>
                  <a:chExt cx="5209103" cy="341630"/>
                </a:xfrm>
              </p:grpSpPr>
              <p:sp>
                <p:nvSpPr>
                  <p:cNvPr id="48" name="Text Box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412750" cy="3416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>
                    <a:noAutofit/>
                  </a:bodyPr>
                  <a:lstStyle/>
                  <a:p>
                    <a:pPr algn="just">
                      <a:lnSpc>
                        <a:spcPct val="115000"/>
                      </a:lnSpc>
                      <a:spcAft>
                        <a:spcPts val="0"/>
                      </a:spcAft>
                    </a:pPr>
                    <a:r>
                      <a:rPr lang="en-US" sz="1100" b="1" dirty="0">
                        <a:solidFill>
                          <a:srgbClr val="FFFFFF"/>
                        </a:solidFill>
                        <a:effectLst/>
                        <a:latin typeface="Calibri"/>
                        <a:ea typeface="Calibri"/>
                        <a:cs typeface="Arial"/>
                      </a:rPr>
                      <a:t>(a)</a:t>
                    </a:r>
                    <a:endParaRPr lang="el-GR" sz="1100" dirty="0">
                      <a:effectLst/>
                      <a:latin typeface="Calibri"/>
                      <a:ea typeface="Calibri"/>
                      <a:cs typeface="Arial"/>
                    </a:endParaRPr>
                  </a:p>
                </p:txBody>
              </p:sp>
              <p:sp>
                <p:nvSpPr>
                  <p:cNvPr id="49" name="Text Box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09335" y="0"/>
                    <a:ext cx="397566" cy="3416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>
                    <a:noAutofit/>
                  </a:bodyPr>
                  <a:lstStyle/>
                  <a:p>
                    <a:pPr algn="just">
                      <a:lnSpc>
                        <a:spcPct val="115000"/>
                      </a:lnSpc>
                      <a:spcAft>
                        <a:spcPts val="0"/>
                      </a:spcAft>
                    </a:pPr>
                    <a:r>
                      <a:rPr lang="en-US" sz="1100" b="1" dirty="0">
                        <a:solidFill>
                          <a:srgbClr val="FFFFFF"/>
                        </a:solidFill>
                        <a:effectLst/>
                        <a:latin typeface="Calibri"/>
                        <a:ea typeface="Calibri"/>
                        <a:cs typeface="Arial"/>
                      </a:rPr>
                      <a:t>(b)</a:t>
                    </a:r>
                    <a:endParaRPr lang="el-GR" sz="1100" dirty="0">
                      <a:effectLst/>
                      <a:latin typeface="Calibri"/>
                      <a:ea typeface="Calibri"/>
                      <a:cs typeface="Arial"/>
                    </a:endParaRPr>
                  </a:p>
                </p:txBody>
              </p:sp>
              <p:sp>
                <p:nvSpPr>
                  <p:cNvPr id="50" name="Text Box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37108" y="0"/>
                    <a:ext cx="341630" cy="3416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>
                    <a:noAutofit/>
                  </a:bodyPr>
                  <a:lstStyle/>
                  <a:p>
                    <a:pPr algn="just">
                      <a:lnSpc>
                        <a:spcPct val="115000"/>
                      </a:lnSpc>
                      <a:spcAft>
                        <a:spcPts val="0"/>
                      </a:spcAft>
                    </a:pPr>
                    <a:r>
                      <a:rPr lang="en-US" sz="1100" b="1" dirty="0">
                        <a:solidFill>
                          <a:srgbClr val="FFFFFF"/>
                        </a:solidFill>
                        <a:effectLst/>
                        <a:latin typeface="Calibri"/>
                        <a:ea typeface="Calibri"/>
                        <a:cs typeface="Arial"/>
                      </a:rPr>
                      <a:t>(c)</a:t>
                    </a:r>
                    <a:endParaRPr lang="el-GR" sz="1100" dirty="0">
                      <a:effectLst/>
                      <a:latin typeface="Calibri"/>
                      <a:ea typeface="Calibri"/>
                      <a:cs typeface="Arial"/>
                    </a:endParaRPr>
                  </a:p>
                </p:txBody>
              </p:sp>
              <p:sp>
                <p:nvSpPr>
                  <p:cNvPr id="51" name="Text Box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88098" y="0"/>
                    <a:ext cx="421005" cy="3416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>
                    <a:noAutofit/>
                  </a:bodyPr>
                  <a:lstStyle/>
                  <a:p>
                    <a:pPr algn="just">
                      <a:lnSpc>
                        <a:spcPct val="115000"/>
                      </a:lnSpc>
                      <a:spcAft>
                        <a:spcPts val="0"/>
                      </a:spcAft>
                    </a:pPr>
                    <a:r>
                      <a:rPr lang="en-US" sz="1100" b="1" dirty="0">
                        <a:solidFill>
                          <a:srgbClr val="FFFFFF"/>
                        </a:solidFill>
                        <a:effectLst/>
                        <a:latin typeface="Calibri"/>
                        <a:ea typeface="Calibri"/>
                        <a:cs typeface="Arial"/>
                      </a:rPr>
                      <a:t>(d)</a:t>
                    </a:r>
                    <a:endParaRPr lang="el-GR" sz="1100" dirty="0">
                      <a:effectLst/>
                      <a:latin typeface="Calibri"/>
                      <a:ea typeface="Calibri"/>
                      <a:cs typeface="Arial"/>
                    </a:endParaRPr>
                  </a:p>
                </p:txBody>
              </p:sp>
            </p:grpSp>
          </p:grpSp>
        </p:grpSp>
        <p:grpSp>
          <p:nvGrpSpPr>
            <p:cNvPr id="39" name="Group 38"/>
            <p:cNvGrpSpPr/>
            <p:nvPr/>
          </p:nvGrpSpPr>
          <p:grpSpPr>
            <a:xfrm>
              <a:off x="0" y="43891"/>
              <a:ext cx="6202731" cy="1269696"/>
              <a:chOff x="0" y="0"/>
              <a:chExt cx="6202731" cy="1269696"/>
            </a:xfrm>
          </p:grpSpPr>
          <p:sp>
            <p:nvSpPr>
              <p:cNvPr id="40" name="Rectangle 39"/>
              <p:cNvSpPr/>
              <p:nvPr/>
            </p:nvSpPr>
            <p:spPr>
              <a:xfrm>
                <a:off x="0" y="0"/>
                <a:ext cx="1477962" cy="1262524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l-GR"/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1477670" y="0"/>
                <a:ext cx="1513840" cy="1262380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l-GR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2991917" y="7316"/>
                <a:ext cx="1601724" cy="1262380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l-GR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4601261" y="0"/>
                <a:ext cx="1601470" cy="1262380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l-GR"/>
              </a:p>
            </p:txBody>
          </p:sp>
        </p:grpSp>
      </p:grpSp>
      <p:sp>
        <p:nvSpPr>
          <p:cNvPr id="3" name="Rectangle 2"/>
          <p:cNvSpPr/>
          <p:nvPr/>
        </p:nvSpPr>
        <p:spPr>
          <a:xfrm>
            <a:off x="152400" y="685800"/>
            <a:ext cx="6164252" cy="24468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/>
              <a:t>CNV – </a:t>
            </a:r>
            <a:r>
              <a:rPr lang="en-US" sz="1400" b="1" dirty="0" err="1"/>
              <a:t>Choroidal</a:t>
            </a:r>
            <a:r>
              <a:rPr lang="en-US" sz="1400" b="1" dirty="0"/>
              <a:t> Neovascularization  </a:t>
            </a:r>
            <a:r>
              <a:rPr lang="en-US" sz="1200" dirty="0" smtClean="0"/>
              <a:t>(Figure 1a)</a:t>
            </a:r>
            <a:endParaRPr lang="en-US" sz="1200" dirty="0"/>
          </a:p>
          <a:p>
            <a:r>
              <a:rPr lang="en-US" sz="1200" dirty="0"/>
              <a:t>Abnormal blood vessel growth under the retina.</a:t>
            </a:r>
          </a:p>
          <a:p>
            <a:r>
              <a:rPr lang="en-US" sz="1200" u="sng" dirty="0"/>
              <a:t>OCT Features:</a:t>
            </a:r>
            <a:r>
              <a:rPr lang="en-US" sz="1200" dirty="0"/>
              <a:t>  </a:t>
            </a:r>
            <a:r>
              <a:rPr lang="en-US" sz="1200" b="1" dirty="0" err="1">
                <a:solidFill>
                  <a:srgbClr val="C00000"/>
                </a:solidFill>
              </a:rPr>
              <a:t>Subretinal</a:t>
            </a:r>
            <a:r>
              <a:rPr lang="en-US" sz="1200" b="1" dirty="0">
                <a:solidFill>
                  <a:srgbClr val="C00000"/>
                </a:solidFill>
              </a:rPr>
              <a:t> fluid</a:t>
            </a:r>
            <a:r>
              <a:rPr lang="en-US" sz="1200" dirty="0"/>
              <a:t>,  </a:t>
            </a:r>
            <a:r>
              <a:rPr lang="en-US" sz="1200" b="1" dirty="0" err="1">
                <a:solidFill>
                  <a:srgbClr val="C00000"/>
                </a:solidFill>
              </a:rPr>
              <a:t>Hyperreflective</a:t>
            </a:r>
            <a:r>
              <a:rPr lang="en-US" sz="1200" b="1" dirty="0">
                <a:solidFill>
                  <a:srgbClr val="C00000"/>
                </a:solidFill>
              </a:rPr>
              <a:t> lesions</a:t>
            </a:r>
            <a:r>
              <a:rPr lang="en-US" sz="1200" dirty="0"/>
              <a:t>, </a:t>
            </a:r>
            <a:r>
              <a:rPr lang="en-US" sz="1200" b="1" dirty="0">
                <a:solidFill>
                  <a:srgbClr val="C00000"/>
                </a:solidFill>
              </a:rPr>
              <a:t>Retinal thickening</a:t>
            </a:r>
          </a:p>
          <a:p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400" b="1" dirty="0"/>
              <a:t>DME – Diabetic Macular </a:t>
            </a:r>
            <a:r>
              <a:rPr lang="en-US" sz="1400" b="1" dirty="0" smtClean="0"/>
              <a:t>Edema  </a:t>
            </a:r>
            <a:r>
              <a:rPr lang="en-US" sz="1200" dirty="0" smtClean="0"/>
              <a:t>(</a:t>
            </a:r>
            <a:r>
              <a:rPr lang="en-US" sz="1200" dirty="0"/>
              <a:t>Figure </a:t>
            </a:r>
            <a:r>
              <a:rPr lang="en-US" sz="1200" dirty="0" smtClean="0"/>
              <a:t>1b)</a:t>
            </a:r>
            <a:endParaRPr lang="en-US" sz="1200" b="1" dirty="0"/>
          </a:p>
          <a:p>
            <a:r>
              <a:rPr lang="en-US" sz="1200" dirty="0"/>
              <a:t>Swelling of the macula due to fluid leakage from damaged blood vessels.</a:t>
            </a:r>
          </a:p>
          <a:p>
            <a:r>
              <a:rPr lang="en-US" sz="1200" u="sng" dirty="0"/>
              <a:t>OCT Features:</a:t>
            </a:r>
            <a:r>
              <a:rPr lang="en-US" sz="1200" dirty="0"/>
              <a:t>  </a:t>
            </a:r>
            <a:r>
              <a:rPr lang="en-US" sz="1200" b="1" dirty="0" err="1">
                <a:solidFill>
                  <a:srgbClr val="C00000"/>
                </a:solidFill>
              </a:rPr>
              <a:t>Intraretinal</a:t>
            </a:r>
            <a:r>
              <a:rPr lang="en-US" sz="1200" b="1" dirty="0">
                <a:solidFill>
                  <a:srgbClr val="C00000"/>
                </a:solidFill>
              </a:rPr>
              <a:t> cysts</a:t>
            </a:r>
            <a:r>
              <a:rPr lang="en-US" sz="1200" dirty="0"/>
              <a:t>, </a:t>
            </a:r>
            <a:r>
              <a:rPr lang="en-US" sz="1200" b="1" dirty="0"/>
              <a:t> </a:t>
            </a:r>
            <a:r>
              <a:rPr lang="en-US" sz="1200" b="1" dirty="0">
                <a:solidFill>
                  <a:srgbClr val="C00000"/>
                </a:solidFill>
              </a:rPr>
              <a:t>Retinal thickening</a:t>
            </a:r>
            <a:r>
              <a:rPr lang="en-US" sz="1200" b="1" dirty="0"/>
              <a:t>,  </a:t>
            </a:r>
            <a:r>
              <a:rPr lang="en-US" sz="1200" b="1" dirty="0">
                <a:solidFill>
                  <a:srgbClr val="C00000"/>
                </a:solidFill>
              </a:rPr>
              <a:t>Fluid pockets</a:t>
            </a:r>
          </a:p>
          <a:p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400" b="1" dirty="0" err="1" smtClean="0"/>
              <a:t>Drusen</a:t>
            </a:r>
            <a:r>
              <a:rPr lang="en-US" sz="1400" b="1" dirty="0" smtClean="0"/>
              <a:t>  </a:t>
            </a:r>
            <a:r>
              <a:rPr lang="en-US" sz="1200" dirty="0"/>
              <a:t>(Figure </a:t>
            </a:r>
            <a:r>
              <a:rPr lang="en-US" sz="1200" dirty="0" smtClean="0"/>
              <a:t>1c)</a:t>
            </a:r>
            <a:endParaRPr lang="en-US" sz="1200" b="1" dirty="0"/>
          </a:p>
          <a:p>
            <a:r>
              <a:rPr lang="en-US" sz="1200" dirty="0"/>
              <a:t>Yellow deposits (lipid/protein) under the retina.</a:t>
            </a:r>
          </a:p>
          <a:p>
            <a:r>
              <a:rPr lang="en-US" sz="1200" u="sng" dirty="0"/>
              <a:t>OCT Features:</a:t>
            </a:r>
            <a:r>
              <a:rPr lang="en-US" sz="1200" dirty="0"/>
              <a:t>  </a:t>
            </a:r>
            <a:r>
              <a:rPr lang="en-US" sz="1200" b="1" dirty="0">
                <a:solidFill>
                  <a:srgbClr val="C00000"/>
                </a:solidFill>
              </a:rPr>
              <a:t>Dome-shaped elevations under RPE</a:t>
            </a:r>
            <a:r>
              <a:rPr lang="en-US" sz="1200" b="1" dirty="0"/>
              <a:t>,  </a:t>
            </a:r>
            <a:r>
              <a:rPr lang="en-US" sz="1200" b="1" dirty="0">
                <a:solidFill>
                  <a:srgbClr val="C00000"/>
                </a:solidFill>
              </a:rPr>
              <a:t>No major fluid accumulation (early stage)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86500" y="838200"/>
            <a:ext cx="2307938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dirty="0"/>
              <a:t>Popular dataset for classification: </a:t>
            </a:r>
          </a:p>
          <a:p>
            <a:r>
              <a:rPr lang="en-US" sz="1400" b="1" dirty="0" err="1">
                <a:solidFill>
                  <a:srgbClr val="0070C0"/>
                </a:solidFill>
              </a:rPr>
              <a:t>Kermany</a:t>
            </a:r>
            <a:r>
              <a:rPr lang="en-US" sz="1400" b="1" dirty="0">
                <a:solidFill>
                  <a:srgbClr val="0070C0"/>
                </a:solidFill>
              </a:rPr>
              <a:t> OCT Dataset</a:t>
            </a:r>
          </a:p>
          <a:p>
            <a:endParaRPr lang="en-US" sz="1400" b="1" dirty="0">
              <a:solidFill>
                <a:srgbClr val="0070C0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200" dirty="0"/>
              <a:t>Dataset was pre-split into: </a:t>
            </a:r>
          </a:p>
          <a:p>
            <a:r>
              <a:rPr lang="en-US" sz="1400" b="1" dirty="0">
                <a:solidFill>
                  <a:srgbClr val="7030A0"/>
                </a:solidFill>
              </a:rPr>
              <a:t>Train set 60%</a:t>
            </a:r>
          </a:p>
          <a:p>
            <a:r>
              <a:rPr lang="en-US" sz="1400" b="1" dirty="0">
                <a:solidFill>
                  <a:srgbClr val="7030A0"/>
                </a:solidFill>
              </a:rPr>
              <a:t>Validation set 20%</a:t>
            </a:r>
          </a:p>
          <a:p>
            <a:r>
              <a:rPr lang="en-US" sz="1400" b="1" dirty="0">
                <a:solidFill>
                  <a:srgbClr val="7030A0"/>
                </a:solidFill>
              </a:rPr>
              <a:t>Test set 20%</a:t>
            </a:r>
            <a:endParaRPr lang="el-GR" sz="1400" b="1" dirty="0">
              <a:solidFill>
                <a:srgbClr val="7030A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2037" y="3349749"/>
            <a:ext cx="3455563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1400" b="1" dirty="0"/>
              <a:t>Optical Coherence Tomography </a:t>
            </a:r>
            <a:r>
              <a:rPr lang="en-US" sz="1400" dirty="0"/>
              <a:t>(OCT) </a:t>
            </a:r>
          </a:p>
          <a:p>
            <a:pPr algn="just"/>
            <a:r>
              <a:rPr lang="en-US" sz="1300" dirty="0"/>
              <a:t>is a non-invasive imaging technique that uses </a:t>
            </a:r>
            <a:r>
              <a:rPr lang="en-US" sz="1300" u="sng" dirty="0"/>
              <a:t>light waves</a:t>
            </a:r>
            <a:r>
              <a:rPr lang="en-US" sz="1300" dirty="0"/>
              <a:t> to capture cross-sectional images of the retina.</a:t>
            </a:r>
          </a:p>
        </p:txBody>
      </p:sp>
      <p:sp>
        <p:nvSpPr>
          <p:cNvPr id="5" name="Rectangle 4"/>
          <p:cNvSpPr/>
          <p:nvPr/>
        </p:nvSpPr>
        <p:spPr>
          <a:xfrm>
            <a:off x="4419600" y="3352800"/>
            <a:ext cx="3733800" cy="1308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/>
              <a:t>OCT scan reveals: </a:t>
            </a:r>
          </a:p>
          <a:p>
            <a:pPr lvl="3" algn="just"/>
            <a:r>
              <a:rPr lang="en-US" sz="1300" dirty="0"/>
              <a:t>Retinal layers</a:t>
            </a:r>
          </a:p>
          <a:p>
            <a:pPr lvl="3" algn="just"/>
            <a:r>
              <a:rPr lang="en-US" sz="1300" dirty="0"/>
              <a:t>Macula thickness</a:t>
            </a:r>
          </a:p>
          <a:p>
            <a:pPr lvl="3" algn="just"/>
            <a:r>
              <a:rPr lang="en-US" sz="1300" dirty="0"/>
              <a:t>Fluid accumulation</a:t>
            </a:r>
          </a:p>
          <a:p>
            <a:pPr lvl="3" algn="just"/>
            <a:r>
              <a:rPr lang="en-US" sz="1300" dirty="0"/>
              <a:t>Blood vessel abnormalities</a:t>
            </a:r>
          </a:p>
          <a:p>
            <a:pPr lvl="3" algn="just"/>
            <a:r>
              <a:rPr lang="en-US" sz="1300" dirty="0"/>
              <a:t>Nerve fiber layer thickness</a:t>
            </a:r>
            <a:endParaRPr lang="el-GR" sz="1300" dirty="0"/>
          </a:p>
        </p:txBody>
      </p:sp>
    </p:spTree>
    <p:extLst>
      <p:ext uri="{BB962C8B-B14F-4D97-AF65-F5344CB8AC3E}">
        <p14:creationId xmlns:p14="http://schemas.microsoft.com/office/powerpoint/2010/main" val="2303056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"/>
            <a:ext cx="8229600" cy="739140"/>
          </a:xfrm>
        </p:spPr>
        <p:txBody>
          <a:bodyPr>
            <a:normAutofit/>
          </a:bodyPr>
          <a:lstStyle/>
          <a:p>
            <a:r>
              <a:rPr lang="en-US" sz="2400" b="1" dirty="0"/>
              <a:t>Convolutional Neural Network (CNN) architectures</a:t>
            </a:r>
            <a:endParaRPr lang="el-GR" sz="2400" b="1" dirty="0"/>
          </a:p>
        </p:txBody>
      </p:sp>
      <p:grpSp>
        <p:nvGrpSpPr>
          <p:cNvPr id="4" name="Group 3"/>
          <p:cNvGrpSpPr/>
          <p:nvPr/>
        </p:nvGrpSpPr>
        <p:grpSpPr>
          <a:xfrm>
            <a:off x="4572000" y="609600"/>
            <a:ext cx="4404036" cy="3257300"/>
            <a:chOff x="-1287975" y="-84149"/>
            <a:chExt cx="4404702" cy="3257630"/>
          </a:xfrm>
        </p:grpSpPr>
        <p:pic>
          <p:nvPicPr>
            <p:cNvPr id="5" name="Picture 4" descr="C:\Users\PC\Downloads\models.pn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287975" y="-84149"/>
              <a:ext cx="4404702" cy="29254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Text Box 1"/>
            <p:cNvSpPr txBox="1"/>
            <p:nvPr/>
          </p:nvSpPr>
          <p:spPr>
            <a:xfrm>
              <a:off x="-1287975" y="2889001"/>
              <a:ext cx="4404702" cy="284480"/>
            </a:xfrm>
            <a:prstGeom prst="rect">
              <a:avLst/>
            </a:prstGeom>
            <a:solidFill>
              <a:prstClr val="white"/>
            </a:solidFill>
            <a:ln>
              <a:noFill/>
            </a:ln>
          </p:spPr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1000"/>
                </a:spcAft>
              </a:pPr>
              <a:r>
                <a:rPr lang="en-US" sz="1100" b="1" i="1" dirty="0">
                  <a:solidFill>
                    <a:srgbClr val="0070C0"/>
                  </a:solidFill>
                  <a:effectLst/>
                  <a:latin typeface="Calibri"/>
                  <a:ea typeface="Calibri"/>
                  <a:cs typeface="Arial"/>
                </a:rPr>
                <a:t>Figure 2:</a:t>
              </a:r>
              <a:r>
                <a:rPr lang="en-US" sz="1100" i="1" dirty="0">
                  <a:solidFill>
                    <a:srgbClr val="0070C0"/>
                  </a:solidFill>
                  <a:effectLst/>
                  <a:latin typeface="Calibri"/>
                  <a:ea typeface="Calibri"/>
                  <a:cs typeface="Arial"/>
                </a:rPr>
                <a:t> Comparative CNN architecture of ResNet-18 and DenseNet-121 for OCT retinal image classification.</a:t>
              </a:r>
              <a:endParaRPr lang="el-GR" sz="1100" i="1" dirty="0">
                <a:solidFill>
                  <a:srgbClr val="0070C0"/>
                </a:solidFill>
                <a:effectLst/>
                <a:latin typeface="Calibri"/>
                <a:ea typeface="Calibri"/>
                <a:cs typeface="Arial"/>
              </a:endParaRPr>
            </a:p>
          </p:txBody>
        </p:sp>
      </p:grpSp>
      <p:sp>
        <p:nvSpPr>
          <p:cNvPr id="8" name="Rectangle 7"/>
          <p:cNvSpPr/>
          <p:nvPr/>
        </p:nvSpPr>
        <p:spPr>
          <a:xfrm>
            <a:off x="152400" y="609600"/>
            <a:ext cx="43434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/>
              <a:t>A) </a:t>
            </a:r>
            <a:r>
              <a:rPr lang="en-US" sz="1400" b="1" u="sng" dirty="0"/>
              <a:t>ResNet-18</a:t>
            </a:r>
            <a:r>
              <a:rPr lang="en-US" sz="1400" dirty="0"/>
              <a:t> </a:t>
            </a:r>
            <a:r>
              <a:rPr lang="en-US" sz="1200" dirty="0"/>
              <a:t>(</a:t>
            </a:r>
            <a:r>
              <a:rPr lang="en-US" sz="1100" dirty="0"/>
              <a:t>11.7 million parameters</a:t>
            </a:r>
            <a:r>
              <a:rPr lang="en-US" sz="1200" dirty="0"/>
              <a:t>)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18 weight layers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Uses Basic Residual Blocks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Designed mainly for </a:t>
            </a:r>
            <a:r>
              <a:rPr lang="en-US" sz="1200" dirty="0" err="1"/>
              <a:t>ImageNet</a:t>
            </a:r>
            <a:r>
              <a:rPr lang="en-US" sz="1200" dirty="0"/>
              <a:t> classification</a:t>
            </a:r>
          </a:p>
          <a:p>
            <a:pPr marL="171450" indent="-171450">
              <a:buFont typeface="Arial" pitchFamily="34" charset="0"/>
              <a:buChar char="•"/>
            </a:pPr>
            <a:endParaRPr lang="en-US" sz="700" dirty="0"/>
          </a:p>
          <a:p>
            <a:r>
              <a:rPr lang="en-US" sz="1200" b="1" dirty="0"/>
              <a:t>                      Advantages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u="sng" dirty="0">
                <a:solidFill>
                  <a:srgbClr val="00B050"/>
                </a:solidFill>
              </a:rPr>
              <a:t>Easier to train </a:t>
            </a:r>
            <a:r>
              <a:rPr lang="en-US" sz="1200" dirty="0">
                <a:solidFill>
                  <a:srgbClr val="00B050"/>
                </a:solidFill>
              </a:rPr>
              <a:t>than traditional deep CNNs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u="sng" dirty="0">
                <a:solidFill>
                  <a:srgbClr val="00B050"/>
                </a:solidFill>
              </a:rPr>
              <a:t>Good tradeoff </a:t>
            </a:r>
            <a:r>
              <a:rPr lang="en-US" sz="1200" dirty="0">
                <a:solidFill>
                  <a:srgbClr val="00B050"/>
                </a:solidFill>
              </a:rPr>
              <a:t>between speed and accuracy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u="sng" dirty="0">
                <a:solidFill>
                  <a:srgbClr val="00B050"/>
                </a:solidFill>
              </a:rPr>
              <a:t>Lightweight</a:t>
            </a:r>
            <a:r>
              <a:rPr lang="en-US" sz="1200" dirty="0">
                <a:solidFill>
                  <a:srgbClr val="00B050"/>
                </a:solidFill>
              </a:rPr>
              <a:t> compared to deeper versions (ResNet-50/101/152)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>
                <a:solidFill>
                  <a:srgbClr val="00B050"/>
                </a:solidFill>
              </a:rPr>
              <a:t>Frequently used in </a:t>
            </a:r>
            <a:r>
              <a:rPr lang="en-US" sz="1200" u="sng" dirty="0">
                <a:solidFill>
                  <a:srgbClr val="00B050"/>
                </a:solidFill>
              </a:rPr>
              <a:t>transfer learning</a:t>
            </a:r>
          </a:p>
          <a:p>
            <a:pPr marL="171450" indent="-171450">
              <a:buFont typeface="Arial" pitchFamily="34" charset="0"/>
              <a:buChar char="•"/>
            </a:pPr>
            <a:endParaRPr lang="en-US" sz="1050" dirty="0"/>
          </a:p>
          <a:p>
            <a:pPr>
              <a:spcAft>
                <a:spcPts val="600"/>
              </a:spcAft>
            </a:pPr>
            <a:r>
              <a:rPr lang="en-US" sz="1400" b="1" dirty="0"/>
              <a:t>B) </a:t>
            </a:r>
            <a:r>
              <a:rPr lang="en-US" sz="1400" b="1" u="sng" dirty="0"/>
              <a:t>DenseNet-121</a:t>
            </a:r>
            <a:r>
              <a:rPr lang="en-US" sz="1100" dirty="0"/>
              <a:t> (8 million parameters)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121 total layers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4 Dense Blocks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3 Transition Layers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Growth Rate (k) = 32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Each layer receives input from all previous layers</a:t>
            </a:r>
          </a:p>
          <a:p>
            <a:pPr marL="171450" indent="-171450">
              <a:buFont typeface="Arial" pitchFamily="34" charset="0"/>
              <a:buChar char="•"/>
            </a:pPr>
            <a:endParaRPr lang="en-US" sz="700" dirty="0"/>
          </a:p>
          <a:p>
            <a:r>
              <a:rPr lang="en-US" sz="1200" b="1" dirty="0"/>
              <a:t>                      Advantages</a:t>
            </a:r>
            <a:endParaRPr lang="en-US" sz="1200" dirty="0">
              <a:solidFill>
                <a:srgbClr val="00B050"/>
              </a:solidFill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en-US" sz="1200" u="sng" dirty="0">
                <a:solidFill>
                  <a:srgbClr val="00B050"/>
                </a:solidFill>
              </a:rPr>
              <a:t>Strong</a:t>
            </a:r>
            <a:r>
              <a:rPr lang="en-US" sz="1200" dirty="0">
                <a:solidFill>
                  <a:srgbClr val="00B050"/>
                </a:solidFill>
              </a:rPr>
              <a:t> gradient flow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u="sng" dirty="0">
                <a:solidFill>
                  <a:srgbClr val="00B050"/>
                </a:solidFill>
              </a:rPr>
              <a:t>Feature reuse </a:t>
            </a:r>
            <a:r>
              <a:rPr lang="en-US" sz="1200" dirty="0">
                <a:solidFill>
                  <a:srgbClr val="00B050"/>
                </a:solidFill>
              </a:rPr>
              <a:t>(earlier features reused later)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u="sng" dirty="0">
                <a:solidFill>
                  <a:srgbClr val="00B050"/>
                </a:solidFill>
              </a:rPr>
              <a:t>Fewer parameters</a:t>
            </a:r>
            <a:r>
              <a:rPr lang="en-US" sz="1200" dirty="0">
                <a:solidFill>
                  <a:srgbClr val="00B050"/>
                </a:solidFill>
              </a:rPr>
              <a:t> than similar deep networks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u="sng" dirty="0">
                <a:solidFill>
                  <a:srgbClr val="00B050"/>
                </a:solidFill>
              </a:rPr>
              <a:t>Reduces</a:t>
            </a:r>
            <a:r>
              <a:rPr lang="en-US" sz="1200" dirty="0">
                <a:solidFill>
                  <a:srgbClr val="00B050"/>
                </a:solidFill>
              </a:rPr>
              <a:t> vanishing gradient problem</a:t>
            </a:r>
            <a:endParaRPr lang="en-US" sz="14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205338"/>
              </p:ext>
            </p:extLst>
          </p:nvPr>
        </p:nvGraphicFramePr>
        <p:xfrm>
          <a:off x="4636608" y="4038600"/>
          <a:ext cx="42748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49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249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4249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r>
                        <a:rPr lang="en-US" sz="1200" dirty="0"/>
                        <a:t>Feature</a:t>
                      </a:r>
                      <a:endParaRPr lang="el-G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ResNet-18</a:t>
                      </a:r>
                      <a:endParaRPr lang="el-G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DenseNet-121</a:t>
                      </a:r>
                      <a:endParaRPr lang="el-GR" sz="1200" dirty="0" smtClean="0"/>
                    </a:p>
                    <a:p>
                      <a:endParaRPr lang="el-G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r>
                        <a:rPr lang="en-US" sz="1200" b="1" dirty="0"/>
                        <a:t>Connections</a:t>
                      </a:r>
                      <a:endParaRPr lang="el-GR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Addition</a:t>
                      </a:r>
                      <a:endParaRPr lang="el-G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Concatenation</a:t>
                      </a:r>
                      <a:endParaRPr lang="el-GR" sz="1200" dirty="0" smtClean="0"/>
                    </a:p>
                    <a:p>
                      <a:endParaRPr lang="el-G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r>
                        <a:rPr lang="en-US" sz="1200" b="1" dirty="0"/>
                        <a:t>Memory Usage</a:t>
                      </a:r>
                      <a:endParaRPr lang="el-GR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Lower</a:t>
                      </a:r>
                      <a:endParaRPr lang="el-G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Higher</a:t>
                      </a:r>
                      <a:endParaRPr lang="el-GR" sz="1200" dirty="0" smtClean="0"/>
                    </a:p>
                    <a:p>
                      <a:endParaRPr lang="el-G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40" name="Rectangle 39"/>
          <p:cNvSpPr/>
          <p:nvPr/>
        </p:nvSpPr>
        <p:spPr>
          <a:xfrm>
            <a:off x="152400" y="5012085"/>
            <a:ext cx="8823960" cy="1769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1200" dirty="0"/>
              <a:t>Experiments were conducted on an </a:t>
            </a:r>
            <a:r>
              <a:rPr lang="en-US" sz="1200" b="1" dirty="0">
                <a:solidFill>
                  <a:srgbClr val="FF0000"/>
                </a:solidFill>
              </a:rPr>
              <a:t>NVIDIA A100 GPU</a:t>
            </a:r>
            <a:r>
              <a:rPr lang="en-US" sz="1200" dirty="0">
                <a:solidFill>
                  <a:srgbClr val="FF0000"/>
                </a:solidFill>
              </a:rPr>
              <a:t>.</a:t>
            </a:r>
            <a:r>
              <a:rPr lang="en-US" sz="1200" dirty="0"/>
              <a:t> </a:t>
            </a:r>
          </a:p>
          <a:p>
            <a:pPr algn="just">
              <a:spcAft>
                <a:spcPts val="600"/>
              </a:spcAft>
            </a:pPr>
            <a:r>
              <a:rPr lang="en-US" sz="1200" b="1" dirty="0"/>
              <a:t>Class-weighted Cross Entropy Loss </a:t>
            </a:r>
            <a:r>
              <a:rPr lang="en-US" sz="1200" dirty="0"/>
              <a:t>to mitigate class </a:t>
            </a:r>
            <a:r>
              <a:rPr lang="en-US" sz="1200" u="sng" dirty="0"/>
              <a:t>imbalance .</a:t>
            </a:r>
          </a:p>
          <a:p>
            <a:pPr algn="just">
              <a:spcAft>
                <a:spcPts val="600"/>
              </a:spcAft>
            </a:pPr>
            <a:r>
              <a:rPr lang="en-US" sz="1200" b="1" dirty="0"/>
              <a:t>Augmentation</a:t>
            </a:r>
            <a:r>
              <a:rPr lang="en-US" sz="1200" dirty="0"/>
              <a:t> techniques were applied (rotation, horizontal flipping, intensity variation, color jitter, Gaussian blur, resizing, normalization, and cropping).</a:t>
            </a:r>
          </a:p>
          <a:p>
            <a:pPr algn="just">
              <a:spcAft>
                <a:spcPts val="600"/>
              </a:spcAft>
            </a:pPr>
            <a:r>
              <a:rPr lang="en-US" sz="1200" b="1" dirty="0"/>
              <a:t>Freezing</a:t>
            </a:r>
            <a:r>
              <a:rPr lang="en-US" sz="1200" dirty="0"/>
              <a:t> and </a:t>
            </a:r>
            <a:r>
              <a:rPr lang="en-US" sz="1200" b="1" dirty="0"/>
              <a:t>unfreezing</a:t>
            </a:r>
            <a:r>
              <a:rPr lang="en-US" sz="1200" dirty="0"/>
              <a:t> was utilized (structured into 6 stages consisting of 15 epochs each).</a:t>
            </a:r>
          </a:p>
          <a:p>
            <a:pPr algn="just">
              <a:spcAft>
                <a:spcPts val="600"/>
              </a:spcAft>
            </a:pPr>
            <a:r>
              <a:rPr lang="en-US" sz="1200" dirty="0"/>
              <a:t>A </a:t>
            </a:r>
            <a:r>
              <a:rPr lang="en-US" sz="1200" b="1" dirty="0"/>
              <a:t>cosine annealing scheduler</a:t>
            </a:r>
            <a:r>
              <a:rPr lang="en-US" sz="1200" dirty="0"/>
              <a:t> was used, with both the scheduler and the learning rate reset at the beginning of each stage. </a:t>
            </a:r>
          </a:p>
          <a:p>
            <a:pPr algn="just"/>
            <a:r>
              <a:rPr lang="en-US" sz="1200" b="1" dirty="0"/>
              <a:t>Checkpoints</a:t>
            </a:r>
            <a:r>
              <a:rPr lang="en-US" sz="1200" dirty="0"/>
              <a:t> were used to save each epoch run and also to load the last epoch in case of sudden shut down.</a:t>
            </a:r>
            <a:endParaRPr lang="el-GR" sz="1200" dirty="0"/>
          </a:p>
        </p:txBody>
      </p:sp>
    </p:spTree>
    <p:extLst>
      <p:ext uri="{BB962C8B-B14F-4D97-AF65-F5344CB8AC3E}">
        <p14:creationId xmlns:p14="http://schemas.microsoft.com/office/powerpoint/2010/main" val="1848629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9890"/>
            <a:ext cx="8229600" cy="739140"/>
          </a:xfrm>
        </p:spPr>
        <p:txBody>
          <a:bodyPr>
            <a:normAutofit/>
          </a:bodyPr>
          <a:lstStyle/>
          <a:p>
            <a:r>
              <a:rPr lang="en-US" sz="2400" b="1" dirty="0"/>
              <a:t>Training Phase	</a:t>
            </a:r>
            <a:r>
              <a:rPr lang="en-US" sz="2400" b="1" dirty="0" smtClean="0"/>
              <a:t> of “Base” CNNs</a:t>
            </a:r>
            <a:endParaRPr lang="el-GR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B302EDC-EEEF-81D2-576E-0A998837A79D}"/>
              </a:ext>
            </a:extLst>
          </p:cNvPr>
          <p:cNvSpPr txBox="1"/>
          <p:nvPr/>
        </p:nvSpPr>
        <p:spPr>
          <a:xfrm>
            <a:off x="5932294" y="5029200"/>
            <a:ext cx="2529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b="1" dirty="0"/>
              <a:t>No Augmentation (Base)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F18DC41E-0279-CBEA-6ED7-D98D5E4525C9}"/>
              </a:ext>
            </a:extLst>
          </p:cNvPr>
          <p:cNvSpPr txBox="1"/>
          <p:nvPr/>
        </p:nvSpPr>
        <p:spPr>
          <a:xfrm>
            <a:off x="5514975" y="5429071"/>
            <a:ext cx="3186770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/>
              <a:t>Val Loss was going up or stable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/>
              <a:t>Train Loss ∼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/>
              <a:t>Train F1-Score ∼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>
                <a:solidFill>
                  <a:srgbClr val="FF0000"/>
                </a:solidFill>
              </a:rPr>
              <a:t>Clear signs of overfitting</a:t>
            </a:r>
            <a:endParaRPr lang="x-none" sz="1700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10200" y="2895600"/>
            <a:ext cx="356502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/>
              <a:t>(B)  DenseNet-121 </a:t>
            </a:r>
            <a:r>
              <a:rPr lang="en-US" sz="1400" dirty="0" smtClean="0"/>
              <a:t>[Base]</a:t>
            </a:r>
            <a:r>
              <a:rPr lang="en-US" sz="1400" b="1" dirty="0" smtClean="0"/>
              <a:t>: </a:t>
            </a:r>
          </a:p>
          <a:p>
            <a:r>
              <a:rPr lang="en-US" sz="1400" u="sng" dirty="0" smtClean="0"/>
              <a:t>Batch </a:t>
            </a:r>
            <a:r>
              <a:rPr lang="en-US" sz="1400" u="sng" dirty="0"/>
              <a:t>size</a:t>
            </a:r>
            <a:r>
              <a:rPr lang="en-US" sz="1400" dirty="0"/>
              <a:t> </a:t>
            </a:r>
            <a:r>
              <a:rPr lang="en-US" sz="1400" dirty="0" smtClean="0"/>
              <a:t>was 512 (initially) then reduced </a:t>
            </a:r>
            <a:r>
              <a:rPr lang="en-US" sz="1400" dirty="0"/>
              <a:t>to 256 from stage 4 onward. </a:t>
            </a:r>
            <a:endParaRPr lang="en-US" sz="1400" dirty="0" smtClean="0"/>
          </a:p>
          <a:p>
            <a:r>
              <a:rPr lang="en-US" sz="1400" u="sng" dirty="0" smtClean="0"/>
              <a:t>Learning </a:t>
            </a:r>
            <a:r>
              <a:rPr lang="en-US" sz="1400" u="sng" dirty="0"/>
              <a:t>rate </a:t>
            </a:r>
            <a:r>
              <a:rPr lang="en-US" sz="1400" dirty="0"/>
              <a:t>was 1 × 10⁻⁴ for the first 3 stages and then reduced to 1 × 10⁻⁵</a:t>
            </a:r>
            <a:r>
              <a:rPr lang="en-US" sz="1400" dirty="0" smtClean="0"/>
              <a:t>.</a:t>
            </a:r>
          </a:p>
          <a:p>
            <a:r>
              <a:rPr lang="en-US" sz="1400" u="sng" dirty="0"/>
              <a:t>Early stopping:</a:t>
            </a:r>
            <a:r>
              <a:rPr lang="en-US" sz="1400" dirty="0"/>
              <a:t> patience of 5 for both macro F1-score (</a:t>
            </a:r>
            <a:r>
              <a:rPr lang="en-US" sz="1400" dirty="0" err="1"/>
              <a:t>Δmin</a:t>
            </a:r>
            <a:r>
              <a:rPr lang="en-US" sz="1400" dirty="0"/>
              <a:t> = 0.0005) and validation </a:t>
            </a:r>
            <a:r>
              <a:rPr lang="en-US" sz="1400" dirty="0" smtClean="0"/>
              <a:t>loss.</a:t>
            </a:r>
            <a:endParaRPr lang="el-GR" sz="1400" dirty="0"/>
          </a:p>
        </p:txBody>
      </p:sp>
      <p:sp>
        <p:nvSpPr>
          <p:cNvPr id="8" name="Rectangle 7"/>
          <p:cNvSpPr/>
          <p:nvPr/>
        </p:nvSpPr>
        <p:spPr>
          <a:xfrm>
            <a:off x="5410200" y="1345049"/>
            <a:ext cx="356502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/>
              <a:t>(A)  RensNet-18  </a:t>
            </a:r>
            <a:r>
              <a:rPr lang="en-US" sz="1400" dirty="0" smtClean="0"/>
              <a:t>[Base] </a:t>
            </a:r>
            <a:r>
              <a:rPr lang="en-US" sz="1400" b="1" dirty="0" smtClean="0"/>
              <a:t>:  </a:t>
            </a:r>
          </a:p>
          <a:p>
            <a:r>
              <a:rPr lang="en-US" sz="1400" u="sng" dirty="0" smtClean="0"/>
              <a:t>Batch </a:t>
            </a:r>
            <a:r>
              <a:rPr lang="en-US" sz="1400" u="sng" dirty="0"/>
              <a:t>size</a:t>
            </a:r>
            <a:r>
              <a:rPr lang="en-US" sz="1400" dirty="0"/>
              <a:t> </a:t>
            </a:r>
            <a:r>
              <a:rPr lang="en-US" sz="1400" dirty="0" smtClean="0"/>
              <a:t>was consistently 512. </a:t>
            </a:r>
          </a:p>
          <a:p>
            <a:r>
              <a:rPr lang="en-US" sz="1400" u="sng" dirty="0" smtClean="0"/>
              <a:t>Learning </a:t>
            </a:r>
            <a:r>
              <a:rPr lang="en-US" sz="1400" u="sng" dirty="0"/>
              <a:t>rate </a:t>
            </a:r>
            <a:r>
              <a:rPr lang="en-US" sz="1400" dirty="0"/>
              <a:t>was </a:t>
            </a:r>
            <a:r>
              <a:rPr lang="en-US" sz="1400" dirty="0" smtClean="0"/>
              <a:t>resetting to 1 </a:t>
            </a:r>
            <a:r>
              <a:rPr lang="en-US" sz="1400" dirty="0"/>
              <a:t>× 10</a:t>
            </a:r>
            <a:r>
              <a:rPr lang="en-US" sz="1400" dirty="0" smtClean="0"/>
              <a:t>⁻⁴.</a:t>
            </a:r>
          </a:p>
          <a:p>
            <a:r>
              <a:rPr lang="en-US" sz="1400" u="sng" dirty="0" smtClean="0"/>
              <a:t>Early stopping:</a:t>
            </a:r>
            <a:r>
              <a:rPr lang="en-US" sz="1400" dirty="0" smtClean="0"/>
              <a:t> patience </a:t>
            </a:r>
            <a:r>
              <a:rPr lang="en-US" sz="1400" dirty="0"/>
              <a:t>of 3 epochs (</a:t>
            </a:r>
            <a:r>
              <a:rPr lang="en-US" sz="1400" dirty="0" err="1"/>
              <a:t>Δmin</a:t>
            </a:r>
            <a:r>
              <a:rPr lang="en-US" sz="1400" dirty="0"/>
              <a:t> = 0.0005) based on macro </a:t>
            </a:r>
            <a:r>
              <a:rPr lang="en-US" sz="1400" dirty="0" smtClean="0"/>
              <a:t>F1-Score.</a:t>
            </a:r>
            <a:endParaRPr lang="el-GR" sz="1400" dirty="0"/>
          </a:p>
        </p:txBody>
      </p:sp>
      <p:grpSp>
        <p:nvGrpSpPr>
          <p:cNvPr id="7" name="Group 6"/>
          <p:cNvGrpSpPr/>
          <p:nvPr/>
        </p:nvGrpSpPr>
        <p:grpSpPr>
          <a:xfrm>
            <a:off x="152400" y="902732"/>
            <a:ext cx="5181162" cy="5871280"/>
            <a:chOff x="152400" y="902732"/>
            <a:chExt cx="5181162" cy="5871280"/>
          </a:xfrm>
        </p:grpSpPr>
        <p:pic>
          <p:nvPicPr>
            <p:cNvPr id="4" name="Picture 3" descr="C:\Users\PC\Downloads\Learning_Curves_Combined(2).png"/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" y="3850812"/>
              <a:ext cx="5181162" cy="2923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xmlns="" id="{F36F86C8-BB51-714A-54A2-AFAAD4E03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" y="902732"/>
              <a:ext cx="5181161" cy="2948080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390525" y="1207532"/>
              <a:ext cx="52129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(A) </a:t>
              </a:r>
              <a:endParaRPr lang="el-GR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59372" y="4191000"/>
              <a:ext cx="5116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smtClean="0"/>
                <a:t>(B) </a:t>
              </a:r>
              <a:endParaRPr lang="el-GR" dirty="0"/>
            </a:p>
          </p:txBody>
        </p:sp>
      </p:grpSp>
    </p:spTree>
    <p:extLst>
      <p:ext uri="{BB962C8B-B14F-4D97-AF65-F5344CB8AC3E}">
        <p14:creationId xmlns:p14="http://schemas.microsoft.com/office/powerpoint/2010/main" val="1888197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9890"/>
            <a:ext cx="8229600" cy="739140"/>
          </a:xfrm>
        </p:spPr>
        <p:txBody>
          <a:bodyPr>
            <a:normAutofit/>
          </a:bodyPr>
          <a:lstStyle/>
          <a:p>
            <a:r>
              <a:rPr lang="en-US" sz="2400" b="1" dirty="0"/>
              <a:t>Training Phase	</a:t>
            </a:r>
            <a:r>
              <a:rPr lang="en-US" sz="2400" b="1" dirty="0" smtClean="0"/>
              <a:t> of CNNs including “</a:t>
            </a:r>
            <a:r>
              <a:rPr lang="x-none" sz="2400" b="1" smtClean="0"/>
              <a:t>Augmentation</a:t>
            </a:r>
            <a:r>
              <a:rPr lang="en-US" sz="2400" b="1" dirty="0" smtClean="0"/>
              <a:t>”</a:t>
            </a:r>
            <a:endParaRPr lang="el-GR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F18DC41E-0279-CBEA-6ED7-D98D5E4525C9}"/>
              </a:ext>
            </a:extLst>
          </p:cNvPr>
          <p:cNvSpPr txBox="1"/>
          <p:nvPr/>
        </p:nvSpPr>
        <p:spPr>
          <a:xfrm>
            <a:off x="5327865" y="5410200"/>
            <a:ext cx="3739935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/>
              <a:t>Smaller Val Loss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/>
              <a:t>Train Loss ∼ Val Loss (Generalization)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/>
              <a:t>Train F1-Score ∼ Val F1-Score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>
                <a:solidFill>
                  <a:srgbClr val="00B050"/>
                </a:solidFill>
              </a:rPr>
              <a:t>Better Training</a:t>
            </a:r>
            <a:endParaRPr lang="x-none" sz="1700" b="1" dirty="0">
              <a:solidFill>
                <a:srgbClr val="00B050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33350" y="838200"/>
            <a:ext cx="5200211" cy="5818800"/>
            <a:chOff x="133350" y="914400"/>
            <a:chExt cx="5200211" cy="5818800"/>
          </a:xfrm>
        </p:grpSpPr>
        <p:pic>
          <p:nvPicPr>
            <p:cNvPr id="4" name="Picture 3"/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33350" y="3810000"/>
              <a:ext cx="5181161" cy="2923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xmlns="" id="{F36F86C8-BB51-714A-54A2-AFAAD4E03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52400" y="914400"/>
              <a:ext cx="5181161" cy="2921784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390525" y="1207532"/>
              <a:ext cx="5036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smtClean="0"/>
                <a:t>(C) </a:t>
              </a:r>
              <a:endParaRPr lang="el-GR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72892" y="4114800"/>
              <a:ext cx="52770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smtClean="0"/>
                <a:t>(D) </a:t>
              </a:r>
              <a:endParaRPr lang="el-GR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B302EDC-EEEF-81D2-576E-0A998837A79D}"/>
              </a:ext>
            </a:extLst>
          </p:cNvPr>
          <p:cNvSpPr txBox="1"/>
          <p:nvPr/>
        </p:nvSpPr>
        <p:spPr>
          <a:xfrm>
            <a:off x="6019800" y="5040868"/>
            <a:ext cx="2076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With </a:t>
            </a:r>
            <a:r>
              <a:rPr lang="x-none" b="1" smtClean="0"/>
              <a:t>Augmentation</a:t>
            </a:r>
            <a:endParaRPr lang="x-none" b="1" dirty="0"/>
          </a:p>
        </p:txBody>
      </p:sp>
      <p:sp>
        <p:nvSpPr>
          <p:cNvPr id="14" name="Rectangle 13"/>
          <p:cNvSpPr/>
          <p:nvPr/>
        </p:nvSpPr>
        <p:spPr>
          <a:xfrm>
            <a:off x="5400675" y="1013936"/>
            <a:ext cx="357454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/>
              <a:t>(C)  RensNet-18  </a:t>
            </a:r>
            <a:r>
              <a:rPr lang="en-US" sz="1400" dirty="0" smtClean="0"/>
              <a:t>[Augmented] </a:t>
            </a:r>
            <a:r>
              <a:rPr lang="en-US" sz="1400" b="1" dirty="0" smtClean="0"/>
              <a:t>:  </a:t>
            </a:r>
          </a:p>
          <a:p>
            <a:r>
              <a:rPr lang="en-US" sz="1400" u="sng" dirty="0" smtClean="0"/>
              <a:t>F1-score</a:t>
            </a:r>
            <a:r>
              <a:rPr lang="en-US" sz="1400" dirty="0" smtClean="0"/>
              <a:t> improved to 0.9489. </a:t>
            </a:r>
          </a:p>
          <a:p>
            <a:r>
              <a:rPr lang="en-US" sz="1400" u="sng" dirty="0" smtClean="0"/>
              <a:t>ECE</a:t>
            </a:r>
            <a:r>
              <a:rPr lang="en-US" sz="1400" dirty="0" smtClean="0"/>
              <a:t> reduced to 0.0080.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675" y="2133362"/>
            <a:ext cx="356502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/>
              <a:t>(D)  DenseNet-121  </a:t>
            </a:r>
            <a:r>
              <a:rPr lang="en-US" sz="1400" dirty="0" smtClean="0"/>
              <a:t>[Augmented] </a:t>
            </a:r>
            <a:r>
              <a:rPr lang="en-US" sz="1400" b="1" dirty="0" smtClean="0"/>
              <a:t>:  </a:t>
            </a:r>
          </a:p>
          <a:p>
            <a:r>
              <a:rPr lang="en-US" sz="1400" u="sng" dirty="0" smtClean="0"/>
              <a:t>F1-score</a:t>
            </a:r>
            <a:r>
              <a:rPr lang="en-US" sz="1400" dirty="0" smtClean="0"/>
              <a:t> improved to 0.9531. </a:t>
            </a:r>
          </a:p>
          <a:p>
            <a:r>
              <a:rPr lang="en-US" sz="1400" u="sng" dirty="0" smtClean="0"/>
              <a:t>ECE</a:t>
            </a:r>
            <a:r>
              <a:rPr lang="en-US" sz="1400" dirty="0" smtClean="0"/>
              <a:t> reduced to 0.0081.</a:t>
            </a:r>
          </a:p>
          <a:p>
            <a:endParaRPr lang="en-US" sz="1400" dirty="0"/>
          </a:p>
          <a:p>
            <a:pPr algn="just"/>
            <a:r>
              <a:rPr lang="en-US" sz="1400" dirty="0"/>
              <a:t>Total misclassifications for test set above threshold were </a:t>
            </a:r>
            <a:r>
              <a:rPr lang="en-US" sz="1400" u="sng" dirty="0"/>
              <a:t>only 222</a:t>
            </a:r>
            <a:r>
              <a:rPr lang="en-US" sz="1400" dirty="0"/>
              <a:t> out of 16,699 samples (1.3%). </a:t>
            </a:r>
            <a:endParaRPr lang="en-US" sz="800" dirty="0"/>
          </a:p>
        </p:txBody>
      </p:sp>
      <p:sp>
        <p:nvSpPr>
          <p:cNvPr id="16" name="Rectangle 15"/>
          <p:cNvSpPr/>
          <p:nvPr/>
        </p:nvSpPr>
        <p:spPr>
          <a:xfrm>
            <a:off x="5486400" y="4001869"/>
            <a:ext cx="3352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/>
              <a:t>*Hard-case mining revealed </a:t>
            </a:r>
            <a:r>
              <a:rPr lang="en-US" sz="1200" dirty="0">
                <a:solidFill>
                  <a:srgbClr val="FF0000"/>
                </a:solidFill>
              </a:rPr>
              <a:t>327 high-confidence misclassifications within the training set</a:t>
            </a:r>
            <a:r>
              <a:rPr lang="en-US" sz="1200" dirty="0"/>
              <a:t>, mainly for CNV and </a:t>
            </a:r>
            <a:r>
              <a:rPr lang="en-US" sz="1200" dirty="0" err="1"/>
              <a:t>Drusen</a:t>
            </a:r>
            <a:r>
              <a:rPr lang="en-US" sz="1200" dirty="0"/>
              <a:t>.</a:t>
            </a:r>
            <a:endParaRPr lang="el-GR" sz="1200" dirty="0"/>
          </a:p>
        </p:txBody>
      </p:sp>
    </p:spTree>
    <p:extLst>
      <p:ext uri="{BB962C8B-B14F-4D97-AF65-F5344CB8AC3E}">
        <p14:creationId xmlns:p14="http://schemas.microsoft.com/office/powerpoint/2010/main" val="3332737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2772694" y="674361"/>
            <a:ext cx="6209633" cy="2830839"/>
            <a:chOff x="251437" y="659038"/>
            <a:chExt cx="6209633" cy="2830839"/>
          </a:xfrm>
        </p:grpSpPr>
        <p:grpSp>
          <p:nvGrpSpPr>
            <p:cNvPr id="5" name="Group 4"/>
            <p:cNvGrpSpPr/>
            <p:nvPr/>
          </p:nvGrpSpPr>
          <p:grpSpPr>
            <a:xfrm>
              <a:off x="251437" y="659038"/>
              <a:ext cx="6100444" cy="2292984"/>
              <a:chOff x="152400" y="0"/>
              <a:chExt cx="5924550" cy="2336800"/>
            </a:xfrm>
          </p:grpSpPr>
          <p:pic>
            <p:nvPicPr>
              <p:cNvPr id="6" name="Picture 5" descr="C:\Users\PC\Downloads\confidence_stacked_true_class.png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2400" y="0"/>
                <a:ext cx="3505200" cy="23368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7" name="Group 6"/>
              <p:cNvGrpSpPr/>
              <p:nvPr/>
            </p:nvGrpSpPr>
            <p:grpSpPr>
              <a:xfrm>
                <a:off x="364581" y="0"/>
                <a:ext cx="5712369" cy="2273300"/>
                <a:chOff x="364581" y="0"/>
                <a:chExt cx="5712369" cy="2273300"/>
              </a:xfrm>
            </p:grpSpPr>
            <p:pic>
              <p:nvPicPr>
                <p:cNvPr id="8" name="Picture 7" descr="C:\Users\PC\Downloads\high_conf_errors_only_cm.png"/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771900" y="0"/>
                  <a:ext cx="2305050" cy="22733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9" name="Group 8"/>
                <p:cNvGrpSpPr/>
                <p:nvPr/>
              </p:nvGrpSpPr>
              <p:grpSpPr>
                <a:xfrm>
                  <a:off x="364581" y="1"/>
                  <a:ext cx="5667919" cy="2101392"/>
                  <a:chOff x="364581" y="622301"/>
                  <a:chExt cx="5667919" cy="2101392"/>
                </a:xfrm>
              </p:grpSpPr>
              <p:grpSp>
                <p:nvGrpSpPr>
                  <p:cNvPr id="10" name="Group 9"/>
                  <p:cNvGrpSpPr/>
                  <p:nvPr/>
                </p:nvGrpSpPr>
                <p:grpSpPr>
                  <a:xfrm>
                    <a:off x="364581" y="622301"/>
                    <a:ext cx="3899947" cy="2101392"/>
                    <a:chOff x="222633" y="2337193"/>
                    <a:chExt cx="3900519" cy="2101619"/>
                  </a:xfrm>
                </p:grpSpPr>
                <p:grpSp>
                  <p:nvGrpSpPr>
                    <p:cNvPr id="12" name="Group 11"/>
                    <p:cNvGrpSpPr/>
                    <p:nvPr/>
                  </p:nvGrpSpPr>
                  <p:grpSpPr>
                    <a:xfrm>
                      <a:off x="222633" y="2337193"/>
                      <a:ext cx="3900519" cy="2101619"/>
                      <a:chOff x="222633" y="2337193"/>
                      <a:chExt cx="3900519" cy="2101619"/>
                    </a:xfrm>
                  </p:grpSpPr>
                  <p:grpSp>
                    <p:nvGrpSpPr>
                      <p:cNvPr id="15" name="Group 14"/>
                      <p:cNvGrpSpPr/>
                      <p:nvPr/>
                    </p:nvGrpSpPr>
                    <p:grpSpPr>
                      <a:xfrm>
                        <a:off x="222633" y="2337193"/>
                        <a:ext cx="3900519" cy="2001252"/>
                        <a:chOff x="222811" y="2440551"/>
                        <a:chExt cx="3900642" cy="2001468"/>
                      </a:xfrm>
                    </p:grpSpPr>
                    <p:grpSp>
                      <p:nvGrpSpPr>
                        <p:cNvPr id="17" name="Group 16"/>
                        <p:cNvGrpSpPr/>
                        <p:nvPr/>
                      </p:nvGrpSpPr>
                      <p:grpSpPr>
                        <a:xfrm>
                          <a:off x="222811" y="2440551"/>
                          <a:ext cx="3900642" cy="2001468"/>
                          <a:chOff x="373707" y="2488508"/>
                          <a:chExt cx="3900998" cy="2001672"/>
                        </a:xfrm>
                      </p:grpSpPr>
                      <p:sp>
                        <p:nvSpPr>
                          <p:cNvPr id="19" name="Text Box 2"/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73707" y="4196175"/>
                            <a:ext cx="492760" cy="29400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rot="0" vert="horz" wrap="square" lIns="91440" tIns="45720" rIns="91440" bIns="45720" anchor="t" anchorCtr="0">
                            <a:noAutofit/>
                          </a:bodyPr>
                          <a:lstStyle/>
                          <a:p>
                            <a:pPr algn="ctr">
                              <a:lnSpc>
                                <a:spcPct val="115000"/>
                              </a:lnSpc>
                              <a:spcAft>
                                <a:spcPts val="1000"/>
                              </a:spcAft>
                            </a:pPr>
                            <a:r>
                              <a:rPr lang="en-US" sz="1000" b="1">
                                <a:effectLst/>
                                <a:latin typeface="Calibri"/>
                                <a:ea typeface="Calibri"/>
                                <a:cs typeface="Arial"/>
                              </a:rPr>
                              <a:t> (a)</a:t>
                            </a:r>
                            <a:endParaRPr lang="el-GR" sz="1100">
                              <a:effectLst/>
                              <a:latin typeface="Calibri"/>
                              <a:ea typeface="Calibri"/>
                              <a:cs typeface="Arial"/>
                            </a:endParaRPr>
                          </a:p>
                        </p:txBody>
                      </p:sp>
                      <p:sp>
                        <p:nvSpPr>
                          <p:cNvPr id="20" name="Text Box 2"/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781945" y="2488508"/>
                            <a:ext cx="492760" cy="29400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rot="0" vert="horz" wrap="square" lIns="91440" tIns="45720" rIns="91440" bIns="45720" anchor="t" anchorCtr="0">
                            <a:noAutofit/>
                          </a:bodyPr>
                          <a:lstStyle/>
                          <a:p>
                            <a:pPr algn="ctr">
                              <a:lnSpc>
                                <a:spcPct val="115000"/>
                              </a:lnSpc>
                              <a:spcAft>
                                <a:spcPts val="1000"/>
                              </a:spcAft>
                            </a:pPr>
                            <a:r>
                              <a:rPr lang="en-US" sz="1000" b="1">
                                <a:effectLst/>
                                <a:latin typeface="Calibri"/>
                                <a:ea typeface="Calibri"/>
                                <a:cs typeface="Arial"/>
                              </a:rPr>
                              <a:t> (b)</a:t>
                            </a:r>
                            <a:endParaRPr lang="el-GR" sz="1100">
                              <a:effectLst/>
                              <a:latin typeface="Calibri"/>
                              <a:ea typeface="Calibri"/>
                              <a:cs typeface="Arial"/>
                            </a:endParaRPr>
                          </a:p>
                        </p:txBody>
                      </p:sp>
                    </p:grpSp>
                    <p:sp>
                      <p:nvSpPr>
                        <p:cNvPr id="18" name="Text Box 2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01708" y="3155722"/>
                          <a:ext cx="1062892" cy="85783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rot="0" vert="horz" wrap="square" lIns="91440" tIns="45720" rIns="91440" bIns="45720" anchor="t" anchorCtr="0">
                          <a:noAutofit/>
                        </a:bodyPr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fr-FR" sz="900" b="1" u="sng" dirty="0">
                              <a:effectLst/>
                              <a:latin typeface="Calibri"/>
                              <a:ea typeface="Calibri"/>
                              <a:cs typeface="Arial"/>
                            </a:rPr>
                            <a:t>AUC values</a:t>
                          </a:r>
                          <a:endParaRPr lang="el-GR" sz="1100" dirty="0">
                            <a:effectLst/>
                            <a:latin typeface="Calibri"/>
                            <a:ea typeface="Calibri"/>
                            <a:cs typeface="Arial"/>
                          </a:endParaRPr>
                        </a:p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fr-FR" sz="800" dirty="0">
                              <a:effectLst/>
                              <a:latin typeface="Calibri"/>
                              <a:ea typeface="Calibri"/>
                              <a:cs typeface="Arial"/>
                            </a:rPr>
                            <a:t>CNV </a:t>
                          </a:r>
                          <a:r>
                            <a:rPr lang="en-US" sz="800" dirty="0">
                              <a:effectLst/>
                              <a:latin typeface="Calibri"/>
                              <a:ea typeface="Calibri"/>
                              <a:cs typeface="Arial"/>
                              <a:sym typeface="Wingdings"/>
                            </a:rPr>
                            <a:t></a:t>
                          </a:r>
                          <a:r>
                            <a:rPr lang="fr-FR" sz="800" dirty="0">
                              <a:effectLst/>
                              <a:latin typeface="Calibri"/>
                              <a:ea typeface="Calibri"/>
                              <a:cs typeface="Arial"/>
                            </a:rPr>
                            <a:t> 0.998</a:t>
                          </a:r>
                          <a:endParaRPr lang="el-GR" sz="800" dirty="0">
                            <a:effectLst/>
                            <a:latin typeface="Calibri"/>
                            <a:ea typeface="Calibri"/>
                            <a:cs typeface="Arial"/>
                          </a:endParaRPr>
                        </a:p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fr-FR" sz="800" dirty="0">
                              <a:effectLst/>
                              <a:latin typeface="Calibri"/>
                              <a:ea typeface="Calibri"/>
                              <a:cs typeface="Arial"/>
                            </a:rPr>
                            <a:t>DME </a:t>
                          </a:r>
                          <a:r>
                            <a:rPr lang="en-US" sz="800" dirty="0">
                              <a:effectLst/>
                              <a:latin typeface="Calibri"/>
                              <a:ea typeface="Calibri"/>
                              <a:cs typeface="Arial"/>
                              <a:sym typeface="Wingdings"/>
                            </a:rPr>
                            <a:t></a:t>
                          </a:r>
                          <a:r>
                            <a:rPr lang="fr-FR" sz="800" dirty="0">
                              <a:effectLst/>
                              <a:latin typeface="Calibri"/>
                              <a:ea typeface="Calibri"/>
                              <a:cs typeface="Arial"/>
                            </a:rPr>
                            <a:t> 0.997</a:t>
                          </a:r>
                          <a:endParaRPr lang="el-GR" sz="800" dirty="0">
                            <a:effectLst/>
                            <a:latin typeface="Calibri"/>
                            <a:ea typeface="Calibri"/>
                            <a:cs typeface="Arial"/>
                          </a:endParaRPr>
                        </a:p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fr-FR" sz="800" dirty="0">
                              <a:effectLst/>
                              <a:latin typeface="Calibri"/>
                              <a:ea typeface="Calibri"/>
                              <a:cs typeface="Arial"/>
                            </a:rPr>
                            <a:t>DRUSEN </a:t>
                          </a:r>
                          <a:r>
                            <a:rPr lang="en-US" sz="800" dirty="0">
                              <a:effectLst/>
                              <a:latin typeface="Calibri"/>
                              <a:ea typeface="Calibri"/>
                              <a:cs typeface="Arial"/>
                              <a:sym typeface="Wingdings"/>
                            </a:rPr>
                            <a:t></a:t>
                          </a:r>
                          <a:r>
                            <a:rPr lang="fr-FR" sz="800" dirty="0">
                              <a:effectLst/>
                              <a:latin typeface="Calibri"/>
                              <a:ea typeface="Calibri"/>
                              <a:cs typeface="Arial"/>
                            </a:rPr>
                            <a:t> 0.992</a:t>
                          </a:r>
                          <a:endParaRPr lang="el-GR" sz="800" dirty="0">
                            <a:effectLst/>
                            <a:latin typeface="Calibri"/>
                            <a:ea typeface="Calibri"/>
                            <a:cs typeface="Arial"/>
                          </a:endParaRPr>
                        </a:p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  <a:latin typeface="Calibri"/>
                              <a:ea typeface="Calibri"/>
                              <a:cs typeface="Arial"/>
                            </a:rPr>
                            <a:t>NORMAL </a:t>
                          </a:r>
                          <a:r>
                            <a:rPr lang="en-US" sz="800" dirty="0">
                              <a:effectLst/>
                              <a:latin typeface="Calibri"/>
                              <a:ea typeface="Calibri"/>
                              <a:cs typeface="Arial"/>
                              <a:sym typeface="Wingdings"/>
                            </a:rPr>
                            <a:t></a:t>
                          </a:r>
                          <a:r>
                            <a:rPr lang="en-US" sz="800" dirty="0">
                              <a:effectLst/>
                              <a:latin typeface="Calibri"/>
                              <a:ea typeface="Calibri"/>
                              <a:cs typeface="Arial"/>
                            </a:rPr>
                            <a:t> 0.998</a:t>
                          </a:r>
                          <a:endParaRPr lang="el-GR" sz="800" dirty="0">
                            <a:effectLst/>
                            <a:latin typeface="Calibri"/>
                            <a:ea typeface="Calibri"/>
                            <a:cs typeface="Arial"/>
                          </a:endParaRPr>
                        </a:p>
                      </p:txBody>
                    </p:sp>
                  </p:grpSp>
                  <p:sp>
                    <p:nvSpPr>
                      <p:cNvPr id="16" name="Rectangle 15"/>
                      <p:cNvSpPr/>
                      <p:nvPr/>
                    </p:nvSpPr>
                    <p:spPr>
                      <a:xfrm>
                        <a:off x="2902226" y="2584869"/>
                        <a:ext cx="427355" cy="1853943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el-GR"/>
                      </a:p>
                    </p:txBody>
                  </p:sp>
                </p:grpSp>
                <p:sp>
                  <p:nvSpPr>
                    <p:cNvPr id="13" name="Text Box 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619165" y="2630808"/>
                      <a:ext cx="1114398" cy="74494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8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Arial"/>
                        </a:rPr>
                        <a:t>CNV </a:t>
                      </a:r>
                      <a:r>
                        <a:rPr lang="en-US" sz="8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Arial"/>
                          <a:sym typeface="Wingdings"/>
                        </a:rPr>
                        <a:t></a:t>
                      </a:r>
                      <a:r>
                        <a:rPr lang="en-US" sz="8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Arial"/>
                        </a:rPr>
                        <a:t> 1.25%</a:t>
                      </a:r>
                      <a:endParaRPr lang="el-GR" sz="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800" dirty="0">
                          <a:effectLst/>
                          <a:latin typeface="Calibri"/>
                          <a:ea typeface="Calibri"/>
                          <a:cs typeface="Arial"/>
                        </a:rPr>
                        <a:t>DME </a:t>
                      </a:r>
                      <a:r>
                        <a:rPr lang="en-US" sz="800" dirty="0">
                          <a:effectLst/>
                          <a:latin typeface="Calibri"/>
                          <a:ea typeface="Calibri"/>
                          <a:cs typeface="Arial"/>
                          <a:sym typeface="Wingdings"/>
                        </a:rPr>
                        <a:t></a:t>
                      </a:r>
                      <a:r>
                        <a:rPr lang="en-US" sz="800" dirty="0">
                          <a:effectLst/>
                          <a:latin typeface="Calibri"/>
                          <a:ea typeface="Calibri"/>
                          <a:cs typeface="Arial"/>
                        </a:rPr>
                        <a:t> </a:t>
                      </a:r>
                      <a:r>
                        <a:rPr lang="fr-FR" sz="800" dirty="0">
                          <a:effectLst/>
                          <a:latin typeface="Calibri"/>
                          <a:ea typeface="Calibri"/>
                          <a:cs typeface="Arial"/>
                        </a:rPr>
                        <a:t>1.79%</a:t>
                      </a:r>
                      <a:endParaRPr lang="el-GR" sz="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800" dirty="0">
                          <a:effectLst/>
                          <a:latin typeface="Calibri"/>
                          <a:ea typeface="Calibri"/>
                          <a:cs typeface="Arial"/>
                        </a:rPr>
                        <a:t>DRUSEN </a:t>
                      </a:r>
                      <a:r>
                        <a:rPr lang="en-US" sz="800" dirty="0">
                          <a:effectLst/>
                          <a:latin typeface="Calibri"/>
                          <a:ea typeface="Calibri"/>
                          <a:cs typeface="Arial"/>
                          <a:sym typeface="Wingdings"/>
                        </a:rPr>
                        <a:t></a:t>
                      </a:r>
                      <a:r>
                        <a:rPr lang="en-US" sz="800" dirty="0">
                          <a:effectLst/>
                          <a:latin typeface="Calibri"/>
                          <a:ea typeface="Calibri"/>
                          <a:cs typeface="Arial"/>
                        </a:rPr>
                        <a:t> </a:t>
                      </a:r>
                      <a:r>
                        <a:rPr lang="fr-FR" sz="800" dirty="0">
                          <a:effectLst/>
                          <a:latin typeface="Calibri"/>
                          <a:ea typeface="Calibri"/>
                          <a:cs typeface="Arial"/>
                        </a:rPr>
                        <a:t>3.15%</a:t>
                      </a:r>
                      <a:endParaRPr lang="el-GR" sz="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  <a:latin typeface="Calibri"/>
                          <a:ea typeface="Calibri"/>
                          <a:cs typeface="Arial"/>
                        </a:rPr>
                        <a:t>NORMAL </a:t>
                      </a:r>
                      <a:r>
                        <a:rPr lang="en-US" sz="800" dirty="0">
                          <a:effectLst/>
                          <a:latin typeface="Calibri"/>
                          <a:ea typeface="Calibri"/>
                          <a:cs typeface="Arial"/>
                          <a:sym typeface="Wingdings"/>
                        </a:rPr>
                        <a:t></a:t>
                      </a:r>
                      <a:r>
                        <a:rPr lang="en-US" sz="800" dirty="0">
                          <a:effectLst/>
                          <a:latin typeface="Calibri"/>
                          <a:ea typeface="Calibri"/>
                          <a:cs typeface="Arial"/>
                        </a:rPr>
                        <a:t> 0.65</a:t>
                      </a:r>
                      <a:r>
                        <a:rPr lang="en-US" sz="800" dirty="0" smtClean="0">
                          <a:effectLst/>
                          <a:latin typeface="Calibri"/>
                          <a:ea typeface="Calibri"/>
                          <a:cs typeface="Arial"/>
                        </a:rPr>
                        <a:t>%</a:t>
                      </a:r>
                      <a:endParaRPr lang="el-GR" sz="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p:txBody>
                </p:sp>
                <p:cxnSp>
                  <p:nvCxnSpPr>
                    <p:cNvPr id="14" name="Straight Arrow Connector 13"/>
                    <p:cNvCxnSpPr/>
                    <p:nvPr/>
                  </p:nvCxnSpPr>
                  <p:spPr>
                    <a:xfrm>
                      <a:off x="2557018" y="2943050"/>
                      <a:ext cx="284480" cy="109220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stealt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" name="Rectangle 10"/>
                  <p:cNvSpPr/>
                  <p:nvPr/>
                </p:nvSpPr>
                <p:spPr>
                  <a:xfrm>
                    <a:off x="4660900" y="834201"/>
                    <a:ext cx="1371600" cy="421005"/>
                  </a:xfrm>
                  <a:prstGeom prst="rect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l-GR"/>
                  </a:p>
                </p:txBody>
              </p:sp>
            </p:grpSp>
          </p:grpSp>
        </p:grpSp>
        <p:sp>
          <p:nvSpPr>
            <p:cNvPr id="21" name="Rectangle 20"/>
            <p:cNvSpPr/>
            <p:nvPr/>
          </p:nvSpPr>
          <p:spPr>
            <a:xfrm>
              <a:off x="360626" y="2889713"/>
              <a:ext cx="6100444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US" sz="1100" i="1" dirty="0">
                  <a:solidFill>
                    <a:srgbClr val="0070C0"/>
                  </a:solidFill>
                </a:rPr>
                <a:t>Figure 4: High-confidence error analysis for the unrefined DenseNet121-Aug. (a) Distribution of misclassifications across confidence scores; (b) Confusion matrix for high-confidence (Confidence &gt; 0.9) test set errors.</a:t>
              </a:r>
              <a:endParaRPr lang="el-GR" sz="1100" i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2798360" y="3741945"/>
            <a:ext cx="6029008" cy="2887455"/>
            <a:chOff x="334621" y="3682901"/>
            <a:chExt cx="6029008" cy="2887455"/>
          </a:xfrm>
        </p:grpSpPr>
        <p:grpSp>
          <p:nvGrpSpPr>
            <p:cNvPr id="22" name="Group 21"/>
            <p:cNvGrpSpPr/>
            <p:nvPr/>
          </p:nvGrpSpPr>
          <p:grpSpPr>
            <a:xfrm>
              <a:off x="334621" y="3682901"/>
              <a:ext cx="5986780" cy="2336165"/>
              <a:chOff x="102960" y="0"/>
              <a:chExt cx="5984637" cy="2336442"/>
            </a:xfrm>
          </p:grpSpPr>
          <p:grpSp>
            <p:nvGrpSpPr>
              <p:cNvPr id="23" name="Group 22"/>
              <p:cNvGrpSpPr/>
              <p:nvPr/>
            </p:nvGrpSpPr>
            <p:grpSpPr>
              <a:xfrm>
                <a:off x="102960" y="0"/>
                <a:ext cx="5984637" cy="2336442"/>
                <a:chOff x="102960" y="972403"/>
                <a:chExt cx="5984637" cy="2336800"/>
              </a:xfrm>
            </p:grpSpPr>
            <p:pic>
              <p:nvPicPr>
                <p:cNvPr id="25" name="Picture 24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102960" y="972403"/>
                  <a:ext cx="3504663" cy="2336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26" name="Group 25"/>
                <p:cNvGrpSpPr/>
                <p:nvPr/>
              </p:nvGrpSpPr>
              <p:grpSpPr>
                <a:xfrm>
                  <a:off x="316851" y="996950"/>
                  <a:ext cx="5770746" cy="2273300"/>
                  <a:chOff x="316851" y="-12700"/>
                  <a:chExt cx="5770746" cy="2273300"/>
                </a:xfrm>
              </p:grpSpPr>
              <p:pic>
                <p:nvPicPr>
                  <p:cNvPr id="27" name="Picture 26"/>
                  <p:cNvPicPr>
                    <a:picLocks noChangeAspect="1"/>
                  </p:cNvPicPr>
                  <p:nvPr/>
                </p:nvPicPr>
                <p:blipFill>
                  <a:blip r:embed="rId5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3786653" y="-12700"/>
                    <a:ext cx="2300944" cy="2273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grpSp>
                <p:nvGrpSpPr>
                  <p:cNvPr id="28" name="Group 27"/>
                  <p:cNvGrpSpPr/>
                  <p:nvPr/>
                </p:nvGrpSpPr>
                <p:grpSpPr>
                  <a:xfrm>
                    <a:off x="316851" y="-12035"/>
                    <a:ext cx="3908024" cy="2043563"/>
                    <a:chOff x="174899" y="2325157"/>
                    <a:chExt cx="3908593" cy="2043784"/>
                  </a:xfrm>
                </p:grpSpPr>
                <p:grpSp>
                  <p:nvGrpSpPr>
                    <p:cNvPr id="29" name="Group 28"/>
                    <p:cNvGrpSpPr/>
                    <p:nvPr/>
                  </p:nvGrpSpPr>
                  <p:grpSpPr>
                    <a:xfrm>
                      <a:off x="174899" y="2325157"/>
                      <a:ext cx="3908593" cy="2043784"/>
                      <a:chOff x="174899" y="2325157"/>
                      <a:chExt cx="3908593" cy="2043784"/>
                    </a:xfrm>
                  </p:grpSpPr>
                  <p:grpSp>
                    <p:nvGrpSpPr>
                      <p:cNvPr id="31" name="Group 30"/>
                      <p:cNvGrpSpPr/>
                      <p:nvPr/>
                    </p:nvGrpSpPr>
                    <p:grpSpPr>
                      <a:xfrm>
                        <a:off x="174899" y="2325157"/>
                        <a:ext cx="3908593" cy="1912176"/>
                        <a:chOff x="175077" y="2428514"/>
                        <a:chExt cx="3908715" cy="1912382"/>
                      </a:xfrm>
                    </p:grpSpPr>
                    <p:grpSp>
                      <p:nvGrpSpPr>
                        <p:cNvPr id="33" name="Group 32"/>
                        <p:cNvGrpSpPr/>
                        <p:nvPr/>
                      </p:nvGrpSpPr>
                      <p:grpSpPr>
                        <a:xfrm>
                          <a:off x="175077" y="2428514"/>
                          <a:ext cx="3908715" cy="1912382"/>
                          <a:chOff x="325969" y="2476469"/>
                          <a:chExt cx="3909077" cy="1912577"/>
                        </a:xfrm>
                      </p:grpSpPr>
                      <p:sp>
                        <p:nvSpPr>
                          <p:cNvPr id="35" name="Text Box 2"/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25969" y="4095041"/>
                            <a:ext cx="377780" cy="29400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rot="0" vert="horz" wrap="square" lIns="91440" tIns="45720" rIns="91440" bIns="45720" anchor="t" anchorCtr="0">
                            <a:noAutofit/>
                          </a:bodyPr>
                          <a:lstStyle/>
                          <a:p>
                            <a:pPr algn="ctr">
                              <a:lnSpc>
                                <a:spcPct val="115000"/>
                              </a:lnSpc>
                              <a:spcAft>
                                <a:spcPts val="1000"/>
                              </a:spcAft>
                            </a:pPr>
                            <a:r>
                              <a:rPr lang="en-US" sz="1000" b="1">
                                <a:effectLst/>
                                <a:latin typeface="Calibri"/>
                                <a:ea typeface="Calibri"/>
                                <a:cs typeface="Arial"/>
                              </a:rPr>
                              <a:t> (a)</a:t>
                            </a:r>
                            <a:endParaRPr lang="el-GR" sz="1100">
                              <a:effectLst/>
                              <a:latin typeface="Calibri"/>
                              <a:ea typeface="Calibri"/>
                              <a:cs typeface="Arial"/>
                            </a:endParaRPr>
                          </a:p>
                        </p:txBody>
                      </p:sp>
                      <p:sp>
                        <p:nvSpPr>
                          <p:cNvPr id="36" name="Text Box 2"/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742286" y="2476469"/>
                            <a:ext cx="492760" cy="29400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rot="0" vert="horz" wrap="square" lIns="91440" tIns="45720" rIns="91440" bIns="45720" anchor="t" anchorCtr="0">
                            <a:noAutofit/>
                          </a:bodyPr>
                          <a:lstStyle/>
                          <a:p>
                            <a:pPr algn="ctr">
                              <a:lnSpc>
                                <a:spcPct val="115000"/>
                              </a:lnSpc>
                              <a:spcAft>
                                <a:spcPts val="1000"/>
                              </a:spcAft>
                            </a:pPr>
                            <a:r>
                              <a:rPr lang="en-US" sz="1000" b="1">
                                <a:effectLst/>
                                <a:latin typeface="Calibri"/>
                                <a:ea typeface="Calibri"/>
                                <a:cs typeface="Arial"/>
                              </a:rPr>
                              <a:t> (b)</a:t>
                            </a:r>
                            <a:endParaRPr lang="el-GR" sz="1100">
                              <a:effectLst/>
                              <a:latin typeface="Calibri"/>
                              <a:ea typeface="Calibri"/>
                              <a:cs typeface="Arial"/>
                            </a:endParaRPr>
                          </a:p>
                        </p:txBody>
                      </p:sp>
                    </p:grpSp>
                    <p:sp>
                      <p:nvSpPr>
                        <p:cNvPr id="34" name="Text Box 2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75077" y="3144013"/>
                          <a:ext cx="961997" cy="80251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rot="0" vert="horz" wrap="square" lIns="91440" tIns="45720" rIns="91440" bIns="45720" anchor="t" anchorCtr="0">
                          <a:noAutofit/>
                        </a:bodyPr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fr-FR" sz="900" b="1" u="sng" dirty="0">
                              <a:effectLst/>
                              <a:latin typeface="Calibri"/>
                              <a:ea typeface="Calibri"/>
                              <a:cs typeface="Arial"/>
                            </a:rPr>
                            <a:t>AUC values</a:t>
                          </a:r>
                          <a:endParaRPr lang="el-GR" sz="1100" dirty="0">
                            <a:effectLst/>
                            <a:latin typeface="Calibri"/>
                            <a:ea typeface="Calibri"/>
                            <a:cs typeface="Arial"/>
                          </a:endParaRPr>
                        </a:p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fr-FR" sz="800" dirty="0">
                              <a:effectLst/>
                              <a:latin typeface="Calibri"/>
                              <a:ea typeface="Calibri"/>
                              <a:cs typeface="Arial"/>
                            </a:rPr>
                            <a:t>CNV </a:t>
                          </a:r>
                          <a:r>
                            <a:rPr lang="en-US" sz="800" dirty="0">
                              <a:effectLst/>
                              <a:latin typeface="Calibri"/>
                              <a:ea typeface="Calibri"/>
                              <a:cs typeface="Arial"/>
                              <a:sym typeface="Wingdings"/>
                            </a:rPr>
                            <a:t></a:t>
                          </a:r>
                          <a:r>
                            <a:rPr lang="fr-FR" sz="800" dirty="0">
                              <a:effectLst/>
                              <a:latin typeface="Calibri"/>
                              <a:ea typeface="Calibri"/>
                              <a:cs typeface="Arial"/>
                            </a:rPr>
                            <a:t> 0.998</a:t>
                          </a:r>
                          <a:endParaRPr lang="el-GR" sz="800" dirty="0">
                            <a:effectLst/>
                            <a:latin typeface="Calibri"/>
                            <a:ea typeface="Calibri"/>
                            <a:cs typeface="Arial"/>
                          </a:endParaRPr>
                        </a:p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fr-FR" sz="800" dirty="0">
                              <a:effectLst/>
                              <a:latin typeface="Calibri"/>
                              <a:ea typeface="Calibri"/>
                              <a:cs typeface="Arial"/>
                            </a:rPr>
                            <a:t>DME </a:t>
                          </a:r>
                          <a:r>
                            <a:rPr lang="en-US" sz="800" dirty="0">
                              <a:effectLst/>
                              <a:latin typeface="Calibri"/>
                              <a:ea typeface="Calibri"/>
                              <a:cs typeface="Arial"/>
                              <a:sym typeface="Wingdings"/>
                            </a:rPr>
                            <a:t></a:t>
                          </a:r>
                          <a:r>
                            <a:rPr lang="fr-FR" sz="800" dirty="0">
                              <a:effectLst/>
                              <a:latin typeface="Calibri"/>
                              <a:ea typeface="Calibri"/>
                              <a:cs typeface="Arial"/>
                            </a:rPr>
                            <a:t> 0.996</a:t>
                          </a:r>
                          <a:endParaRPr lang="el-GR" sz="800" dirty="0">
                            <a:effectLst/>
                            <a:latin typeface="Calibri"/>
                            <a:ea typeface="Calibri"/>
                            <a:cs typeface="Arial"/>
                          </a:endParaRPr>
                        </a:p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fr-FR" sz="800" dirty="0">
                              <a:effectLst/>
                              <a:latin typeface="Calibri"/>
                              <a:ea typeface="Calibri"/>
                              <a:cs typeface="Arial"/>
                            </a:rPr>
                            <a:t>DRUSEN </a:t>
                          </a:r>
                          <a:r>
                            <a:rPr lang="en-US" sz="800" dirty="0">
                              <a:effectLst/>
                              <a:latin typeface="Calibri"/>
                              <a:ea typeface="Calibri"/>
                              <a:cs typeface="Arial"/>
                              <a:sym typeface="Wingdings"/>
                            </a:rPr>
                            <a:t></a:t>
                          </a:r>
                          <a:r>
                            <a:rPr lang="fr-FR" sz="800" dirty="0">
                              <a:effectLst/>
                              <a:latin typeface="Calibri"/>
                              <a:ea typeface="Calibri"/>
                              <a:cs typeface="Arial"/>
                            </a:rPr>
                            <a:t> 0.990</a:t>
                          </a:r>
                          <a:endParaRPr lang="el-GR" sz="800" dirty="0">
                            <a:effectLst/>
                            <a:latin typeface="Calibri"/>
                            <a:ea typeface="Calibri"/>
                            <a:cs typeface="Arial"/>
                          </a:endParaRPr>
                        </a:p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  <a:latin typeface="Calibri"/>
                              <a:ea typeface="Calibri"/>
                              <a:cs typeface="Arial"/>
                            </a:rPr>
                            <a:t>NORMAL </a:t>
                          </a:r>
                          <a:r>
                            <a:rPr lang="en-US" sz="800" dirty="0">
                              <a:effectLst/>
                              <a:latin typeface="Calibri"/>
                              <a:ea typeface="Calibri"/>
                              <a:cs typeface="Arial"/>
                              <a:sym typeface="Wingdings"/>
                            </a:rPr>
                            <a:t></a:t>
                          </a:r>
                          <a:r>
                            <a:rPr lang="en-US" sz="800" dirty="0">
                              <a:effectLst/>
                              <a:latin typeface="Calibri"/>
                              <a:ea typeface="Calibri"/>
                              <a:cs typeface="Arial"/>
                            </a:rPr>
                            <a:t> 0.998</a:t>
                          </a:r>
                          <a:endParaRPr lang="el-GR" sz="800" dirty="0">
                            <a:effectLst/>
                            <a:latin typeface="Calibri"/>
                            <a:ea typeface="Calibri"/>
                            <a:cs typeface="Arial"/>
                          </a:endParaRPr>
                        </a:p>
                      </p:txBody>
                    </p:sp>
                  </p:grpSp>
                  <p:sp>
                    <p:nvSpPr>
                      <p:cNvPr id="32" name="Rectangle 31"/>
                      <p:cNvSpPr/>
                      <p:nvPr/>
                    </p:nvSpPr>
                    <p:spPr>
                      <a:xfrm>
                        <a:off x="2838717" y="2557852"/>
                        <a:ext cx="427355" cy="1811089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  <a:prstDash val="sysDot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el-GR"/>
                      </a:p>
                    </p:txBody>
                  </p:sp>
                </p:grpSp>
                <p:cxnSp>
                  <p:nvCxnSpPr>
                    <p:cNvPr id="30" name="Straight Arrow Connector 29"/>
                    <p:cNvCxnSpPr/>
                    <p:nvPr/>
                  </p:nvCxnSpPr>
                  <p:spPr>
                    <a:xfrm>
                      <a:off x="2480807" y="2797166"/>
                      <a:ext cx="284480" cy="109220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stealt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sp>
            <p:nvSpPr>
              <p:cNvPr id="24" name="Text Box 2"/>
              <p:cNvSpPr txBox="1">
                <a:spLocks noChangeArrowheads="1"/>
              </p:cNvSpPr>
              <p:nvPr/>
            </p:nvSpPr>
            <p:spPr bwMode="auto">
              <a:xfrm>
                <a:off x="1809750" y="254000"/>
                <a:ext cx="1056005" cy="6654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fr-FR" sz="800" dirty="0">
                    <a:effectLst/>
                    <a:latin typeface="Calibri"/>
                    <a:ea typeface="Calibri"/>
                    <a:cs typeface="Arial"/>
                  </a:rPr>
                  <a:t>CNV </a:t>
                </a:r>
                <a:r>
                  <a:rPr lang="en-US" sz="700" dirty="0">
                    <a:effectLst/>
                    <a:latin typeface="Calibri"/>
                    <a:ea typeface="Calibri"/>
                    <a:cs typeface="Arial"/>
                    <a:sym typeface="Wingdings"/>
                  </a:rPr>
                  <a:t></a:t>
                </a:r>
                <a:r>
                  <a:rPr lang="en-US" sz="800" dirty="0">
                    <a:effectLst/>
                    <a:latin typeface="Calibri"/>
                    <a:ea typeface="Calibri"/>
                    <a:cs typeface="Arial"/>
                  </a:rPr>
                  <a:t> </a:t>
                </a:r>
                <a:r>
                  <a:rPr lang="fr-FR" sz="800" dirty="0">
                    <a:effectLst/>
                    <a:latin typeface="Calibri"/>
                    <a:ea typeface="Calibri"/>
                    <a:cs typeface="Arial"/>
                  </a:rPr>
                  <a:t>0.62%</a:t>
                </a:r>
                <a:endParaRPr lang="el-GR" sz="1100" dirty="0">
                  <a:effectLst/>
                  <a:latin typeface="Calibri"/>
                  <a:ea typeface="Calibri"/>
                  <a:cs typeface="Arial"/>
                </a:endParaRPr>
              </a:p>
              <a:p>
                <a:pPr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fr-FR" sz="800" dirty="0">
                    <a:effectLst/>
                    <a:latin typeface="Calibri"/>
                    <a:ea typeface="Calibri"/>
                    <a:cs typeface="Arial"/>
                  </a:rPr>
                  <a:t>DME </a:t>
                </a:r>
                <a:r>
                  <a:rPr lang="en-US" sz="700" dirty="0">
                    <a:effectLst/>
                    <a:latin typeface="Calibri"/>
                    <a:ea typeface="Calibri"/>
                    <a:cs typeface="Arial"/>
                    <a:sym typeface="Wingdings"/>
                  </a:rPr>
                  <a:t></a:t>
                </a:r>
                <a:r>
                  <a:rPr lang="en-US" sz="700" dirty="0">
                    <a:effectLst/>
                    <a:latin typeface="Calibri"/>
                    <a:ea typeface="Calibri"/>
                    <a:cs typeface="Arial"/>
                  </a:rPr>
                  <a:t> </a:t>
                </a:r>
                <a:r>
                  <a:rPr lang="fr-FR" sz="800" dirty="0">
                    <a:effectLst/>
                    <a:latin typeface="Calibri"/>
                    <a:ea typeface="Calibri"/>
                    <a:cs typeface="Arial"/>
                  </a:rPr>
                  <a:t>1.53%</a:t>
                </a:r>
                <a:endParaRPr lang="el-GR" sz="800" dirty="0">
                  <a:effectLst/>
                  <a:latin typeface="Calibri"/>
                  <a:ea typeface="Calibri"/>
                  <a:cs typeface="Arial"/>
                </a:endParaRPr>
              </a:p>
              <a:p>
                <a:pPr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fr-FR" sz="800" dirty="0">
                    <a:effectLst/>
                    <a:latin typeface="Calibri"/>
                    <a:ea typeface="Calibri"/>
                    <a:cs typeface="Arial"/>
                  </a:rPr>
                  <a:t>DRUSEN </a:t>
                </a:r>
                <a:r>
                  <a:rPr lang="en-US" sz="700" dirty="0">
                    <a:effectLst/>
                    <a:latin typeface="Calibri"/>
                    <a:ea typeface="Calibri"/>
                    <a:cs typeface="Arial"/>
                    <a:sym typeface="Wingdings"/>
                  </a:rPr>
                  <a:t></a:t>
                </a:r>
                <a:r>
                  <a:rPr lang="en-US" sz="700" dirty="0">
                    <a:effectLst/>
                    <a:latin typeface="Calibri"/>
                    <a:ea typeface="Calibri"/>
                    <a:cs typeface="Arial"/>
                  </a:rPr>
                  <a:t> </a:t>
                </a:r>
                <a:r>
                  <a:rPr lang="fr-FR" sz="800" dirty="0">
                    <a:effectLst/>
                    <a:latin typeface="Calibri"/>
                    <a:ea typeface="Calibri"/>
                    <a:cs typeface="Arial"/>
                  </a:rPr>
                  <a:t>3.73%</a:t>
                </a:r>
                <a:endParaRPr lang="el-GR" sz="800" dirty="0">
                  <a:effectLst/>
                  <a:latin typeface="Calibri"/>
                  <a:ea typeface="Calibri"/>
                  <a:cs typeface="Arial"/>
                </a:endParaRPr>
              </a:p>
              <a:p>
                <a:pPr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US" sz="800" dirty="0">
                    <a:effectLst/>
                    <a:latin typeface="Calibri"/>
                    <a:ea typeface="Calibri"/>
                    <a:cs typeface="Arial"/>
                  </a:rPr>
                  <a:t>NORMAL </a:t>
                </a:r>
                <a:r>
                  <a:rPr lang="en-US" sz="700" dirty="0">
                    <a:effectLst/>
                    <a:latin typeface="Calibri"/>
                    <a:ea typeface="Calibri"/>
                    <a:cs typeface="Arial"/>
                    <a:sym typeface="Wingdings"/>
                  </a:rPr>
                  <a:t></a:t>
                </a:r>
                <a:r>
                  <a:rPr lang="en-US" sz="700" dirty="0">
                    <a:effectLst/>
                    <a:latin typeface="Calibri"/>
                    <a:ea typeface="Calibri"/>
                    <a:cs typeface="Arial"/>
                  </a:rPr>
                  <a:t> </a:t>
                </a:r>
                <a:r>
                  <a:rPr lang="en-US" sz="800" dirty="0">
                    <a:effectLst/>
                    <a:latin typeface="Calibri"/>
                    <a:ea typeface="Calibri"/>
                    <a:cs typeface="Arial"/>
                  </a:rPr>
                  <a:t>0.25%</a:t>
                </a:r>
                <a:endParaRPr lang="el-GR" sz="800" dirty="0">
                  <a:effectLst/>
                  <a:latin typeface="Calibri"/>
                  <a:ea typeface="Calibri"/>
                  <a:cs typeface="Arial"/>
                </a:endParaRPr>
              </a:p>
              <a:p>
                <a:pPr latinLnBrk="1">
                  <a:lnSpc>
                    <a:spcPct val="115000"/>
                  </a:lnSpc>
                  <a:spcAft>
                    <a:spcPts val="0"/>
                  </a:spcAft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en-US" sz="1000" dirty="0">
                    <a:effectLst/>
                    <a:latin typeface="Calibri"/>
                    <a:ea typeface="Calibri"/>
                    <a:cs typeface="Arial"/>
                  </a:rPr>
                  <a:t> </a:t>
                </a:r>
                <a:endParaRPr lang="el-GR" sz="1100" dirty="0">
                  <a:effectLst/>
                  <a:latin typeface="Calibri"/>
                  <a:ea typeface="Calibri"/>
                  <a:cs typeface="Arial"/>
                </a:endParaRPr>
              </a:p>
            </p:txBody>
          </p:sp>
        </p:grpSp>
        <p:sp>
          <p:nvSpPr>
            <p:cNvPr id="37" name="Rectangle 36"/>
            <p:cNvSpPr/>
            <p:nvPr/>
          </p:nvSpPr>
          <p:spPr>
            <a:xfrm>
              <a:off x="360626" y="5970192"/>
              <a:ext cx="6003003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US" sz="1100" i="1" dirty="0">
                  <a:solidFill>
                    <a:srgbClr val="0070C0"/>
                  </a:solidFill>
                </a:rPr>
                <a:t>Figure 5: High-confidence error analysis for the refined DenseNet121-Aug. (a) Distribution of misclassifications across confidence scores; (b) Confusion matrix for high-confidence (Confidence &gt; 0.9) test set errors.</a:t>
              </a:r>
              <a:endParaRPr lang="el-GR" sz="1100" i="1" dirty="0">
                <a:solidFill>
                  <a:srgbClr val="0070C0"/>
                </a:solidFill>
              </a:endParaRPr>
            </a:p>
          </p:txBody>
        </p:sp>
      </p:grpSp>
      <p:sp>
        <p:nvSpPr>
          <p:cNvPr id="40" name="Title 1"/>
          <p:cNvSpPr>
            <a:spLocks noGrp="1"/>
          </p:cNvSpPr>
          <p:nvPr>
            <p:ph type="title"/>
          </p:nvPr>
        </p:nvSpPr>
        <p:spPr>
          <a:xfrm>
            <a:off x="89917" y="22860"/>
            <a:ext cx="8892409" cy="739140"/>
          </a:xfrm>
        </p:spPr>
        <p:txBody>
          <a:bodyPr>
            <a:normAutofit/>
          </a:bodyPr>
          <a:lstStyle/>
          <a:p>
            <a:r>
              <a:rPr lang="en-US" sz="2400" b="1" dirty="0"/>
              <a:t>Effects of </a:t>
            </a:r>
            <a:r>
              <a:rPr lang="en-US" sz="2400" b="1" dirty="0" smtClean="0"/>
              <a:t>“Class-Specific Refinement” </a:t>
            </a:r>
            <a:r>
              <a:rPr lang="en-US" sz="2400" b="1" dirty="0"/>
              <a:t>and </a:t>
            </a:r>
            <a:r>
              <a:rPr lang="en-US" sz="2400" b="1" dirty="0" smtClean="0"/>
              <a:t>“Temperature Scaling”</a:t>
            </a:r>
            <a:endParaRPr lang="el-GR" sz="2400" b="1" dirty="0"/>
          </a:p>
        </p:txBody>
      </p:sp>
      <p:sp>
        <p:nvSpPr>
          <p:cNvPr id="2" name="Rectangle 1"/>
          <p:cNvSpPr/>
          <p:nvPr/>
        </p:nvSpPr>
        <p:spPr>
          <a:xfrm>
            <a:off x="76200" y="3657600"/>
            <a:ext cx="2696494" cy="2446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b="1" dirty="0">
                <a:solidFill>
                  <a:srgbClr val="7030A0"/>
                </a:solidFill>
              </a:rPr>
              <a:t>Refined DenseNet-121-Aug </a:t>
            </a:r>
            <a:r>
              <a:rPr lang="en-US" sz="1050" dirty="0">
                <a:solidFill>
                  <a:srgbClr val="7030A0"/>
                </a:solidFill>
              </a:rPr>
              <a:t>(Figure 5)</a:t>
            </a:r>
            <a:endParaRPr lang="el-GR" sz="1200" dirty="0">
              <a:solidFill>
                <a:srgbClr val="7030A0"/>
              </a:solidFill>
            </a:endParaRPr>
          </a:p>
          <a:p>
            <a:pPr algn="just"/>
            <a:endParaRPr lang="en-US" sz="500" b="1" dirty="0"/>
          </a:p>
          <a:p>
            <a:pPr algn="just"/>
            <a:r>
              <a:rPr lang="en-US" sz="1200" dirty="0"/>
              <a:t>Apart from </a:t>
            </a:r>
            <a:r>
              <a:rPr lang="en-US" sz="1200" b="1" dirty="0" smtClean="0"/>
              <a:t>Augmentation</a:t>
            </a:r>
            <a:r>
              <a:rPr lang="en-US" sz="1200" b="1" dirty="0"/>
              <a:t>: </a:t>
            </a:r>
          </a:p>
          <a:p>
            <a:pPr algn="just"/>
            <a:endParaRPr lang="en-US" sz="900" dirty="0"/>
          </a:p>
          <a:p>
            <a:pPr algn="just"/>
            <a:r>
              <a:rPr lang="en-US" sz="1200" b="1" dirty="0"/>
              <a:t>Class-specific refinement </a:t>
            </a:r>
            <a:r>
              <a:rPr lang="en-US" sz="1200" dirty="0"/>
              <a:t>and</a:t>
            </a:r>
            <a:r>
              <a:rPr lang="en-US" sz="1200" b="1" dirty="0"/>
              <a:t> Temperature scaling </a:t>
            </a:r>
            <a:r>
              <a:rPr lang="en-US" sz="1200" dirty="0" smtClean="0"/>
              <a:t>reduced </a:t>
            </a:r>
            <a:r>
              <a:rPr lang="en-US" sz="1200" dirty="0"/>
              <a:t>the final test set high-confidence error count </a:t>
            </a:r>
            <a:r>
              <a:rPr lang="en-US" sz="1200" dirty="0" smtClean="0"/>
              <a:t>down to 158 (by </a:t>
            </a:r>
            <a:r>
              <a:rPr lang="en-US" sz="1200" dirty="0"/>
              <a:t>28.8</a:t>
            </a:r>
            <a:r>
              <a:rPr lang="en-US" sz="1200" dirty="0" smtClean="0"/>
              <a:t>%).</a:t>
            </a:r>
            <a:endParaRPr lang="en-US" sz="1200" dirty="0"/>
          </a:p>
          <a:p>
            <a:pPr algn="just"/>
            <a:endParaRPr lang="en-US" sz="700" dirty="0"/>
          </a:p>
          <a:p>
            <a:pPr algn="just"/>
            <a:endParaRPr lang="en-US" sz="1200" dirty="0" smtClean="0">
              <a:solidFill>
                <a:srgbClr val="C00000"/>
              </a:solidFill>
            </a:endParaRPr>
          </a:p>
          <a:p>
            <a:pPr algn="just"/>
            <a:r>
              <a:rPr lang="en-US" sz="1200" dirty="0" smtClean="0">
                <a:solidFill>
                  <a:srgbClr val="C00000"/>
                </a:solidFill>
              </a:rPr>
              <a:t>This </a:t>
            </a:r>
            <a:r>
              <a:rPr lang="en-US" sz="1200" dirty="0">
                <a:solidFill>
                  <a:srgbClr val="C00000"/>
                </a:solidFill>
              </a:rPr>
              <a:t>refinement is important in medical diagnostic applications, </a:t>
            </a:r>
            <a:r>
              <a:rPr lang="en-US" sz="1200" dirty="0" smtClean="0">
                <a:solidFill>
                  <a:srgbClr val="C00000"/>
                </a:solidFill>
              </a:rPr>
              <a:t>as erroneous </a:t>
            </a:r>
            <a:r>
              <a:rPr lang="en-US" sz="1200" dirty="0">
                <a:solidFill>
                  <a:srgbClr val="C00000"/>
                </a:solidFill>
              </a:rPr>
              <a:t>high-confidence predictions may directly impact clinical decision-making.</a:t>
            </a:r>
            <a:endParaRPr lang="el-GR" sz="1200" dirty="0">
              <a:solidFill>
                <a:srgbClr val="C0000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6200" y="759529"/>
            <a:ext cx="2696494" cy="1831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b="1" dirty="0">
                <a:solidFill>
                  <a:srgbClr val="7030A0"/>
                </a:solidFill>
              </a:rPr>
              <a:t>Un-Refined DenseNet-121-Aug </a:t>
            </a:r>
            <a:r>
              <a:rPr lang="en-US" sz="1050" dirty="0">
                <a:solidFill>
                  <a:srgbClr val="7030A0"/>
                </a:solidFill>
              </a:rPr>
              <a:t>(Figure 4)</a:t>
            </a:r>
            <a:endParaRPr lang="el-GR" sz="1050" dirty="0">
              <a:solidFill>
                <a:srgbClr val="7030A0"/>
              </a:solidFill>
            </a:endParaRPr>
          </a:p>
          <a:p>
            <a:pPr algn="just"/>
            <a:endParaRPr lang="en-US" sz="500" b="1" dirty="0"/>
          </a:p>
          <a:p>
            <a:pPr algn="just"/>
            <a:r>
              <a:rPr lang="en-US" sz="1200" b="1" dirty="0"/>
              <a:t>Data augmentation </a:t>
            </a:r>
            <a:r>
              <a:rPr lang="en-US" sz="1200" dirty="0"/>
              <a:t>proved essential for OCT image analysis, as it enhanced dataset variability and reduced </a:t>
            </a:r>
            <a:r>
              <a:rPr lang="en-US" sz="1200" dirty="0" err="1"/>
              <a:t>overfitting</a:t>
            </a:r>
            <a:r>
              <a:rPr lang="en-US" sz="1200" dirty="0"/>
              <a:t>.</a:t>
            </a:r>
          </a:p>
          <a:p>
            <a:pPr algn="just"/>
            <a:endParaRPr lang="en-US" sz="1200" dirty="0"/>
          </a:p>
          <a:p>
            <a:pPr algn="just"/>
            <a:r>
              <a:rPr lang="en-US" sz="1200" dirty="0"/>
              <a:t>Minimized total errors of test set, </a:t>
            </a:r>
            <a:r>
              <a:rPr lang="en-US" sz="1200" u="sng" dirty="0"/>
              <a:t>primarily below the 0.9 threshold</a:t>
            </a:r>
            <a:r>
              <a:rPr lang="en-US" sz="1200" dirty="0"/>
              <a:t>.</a:t>
            </a:r>
          </a:p>
          <a:p>
            <a:pPr algn="just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91179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544417"/>
              </p:ext>
            </p:extLst>
          </p:nvPr>
        </p:nvGraphicFramePr>
        <p:xfrm>
          <a:off x="2932112" y="685802"/>
          <a:ext cx="5830888" cy="20573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086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9217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171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1711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171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2651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884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Model</a:t>
                      </a:r>
                      <a:endParaRPr lang="el-GR" sz="16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ResNet18</a:t>
                      </a:r>
                      <a:endParaRPr lang="el-GR" sz="16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DenseNet121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224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Augmentation - Refinement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Base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Aug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Base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Aug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Aug </a:t>
                      </a:r>
                      <a:endParaRPr lang="el-GR" sz="16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 Refined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11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Unfrozen layers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First 2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All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First 3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All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All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11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Accuracy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0.9348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0.9637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0. 9372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0.9666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0.9654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11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Precision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0.9016</a:t>
                      </a:r>
                      <a:endParaRPr lang="el-GR" sz="16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0.9442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0.9097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0.9480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0.9548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11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Recall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0.9194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0.9539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0.9123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0.9586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0.9457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11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F1 score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0.9099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0.9489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0.9110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0.9531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0.9501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211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ECE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0.0085</a:t>
                      </a:r>
                      <a:endParaRPr lang="el-GR" sz="16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0.0080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0.0117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0.0081</a:t>
                      </a:r>
                      <a:endParaRPr lang="el-GR" sz="16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0.0104</a:t>
                      </a:r>
                      <a:endParaRPr lang="el-GR" sz="16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2743200" y="2950845"/>
            <a:ext cx="6197600" cy="3297555"/>
            <a:chOff x="57150" y="0"/>
            <a:chExt cx="6197600" cy="3397250"/>
          </a:xfrm>
        </p:grpSpPr>
        <p:grpSp>
          <p:nvGrpSpPr>
            <p:cNvPr id="6" name="Group 5"/>
            <p:cNvGrpSpPr/>
            <p:nvPr/>
          </p:nvGrpSpPr>
          <p:grpSpPr>
            <a:xfrm>
              <a:off x="57150" y="0"/>
              <a:ext cx="6197600" cy="3397250"/>
              <a:chOff x="0" y="0"/>
              <a:chExt cx="6197600" cy="3397250"/>
            </a:xfrm>
          </p:grpSpPr>
          <p:grpSp>
            <p:nvGrpSpPr>
              <p:cNvPr id="17" name="Group 16"/>
              <p:cNvGrpSpPr/>
              <p:nvPr/>
            </p:nvGrpSpPr>
            <p:grpSpPr>
              <a:xfrm>
                <a:off x="12700" y="1670050"/>
                <a:ext cx="6184900" cy="1727200"/>
                <a:chOff x="0" y="0"/>
                <a:chExt cx="6184900" cy="1727200"/>
              </a:xfrm>
            </p:grpSpPr>
            <p:pic>
              <p:nvPicPr>
                <p:cNvPr id="25" name="Picture 24" descr="C:\Users\PC\Downloads\correct_DRUSEN.png"/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67308"/>
                <a:stretch/>
              </p:blipFill>
              <p:spPr bwMode="auto">
                <a:xfrm>
                  <a:off x="0" y="0"/>
                  <a:ext cx="1549400" cy="1727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53640926-AAD7-44D8-BBD7-CCE9431645EC}">
                    <a14:shadowObscured xmlns:a14="http://schemas.microsoft.com/office/drawing/2010/main"/>
                  </a:ext>
                </a:extLst>
              </p:spPr>
            </p:pic>
            <p:pic>
              <p:nvPicPr>
                <p:cNvPr id="26" name="Picture 25" descr="C:\Users\PC\Downloads\correct_DRUSEN.png"/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6471" r="813"/>
                <a:stretch/>
              </p:blipFill>
              <p:spPr bwMode="auto">
                <a:xfrm>
                  <a:off x="1549400" y="0"/>
                  <a:ext cx="1549400" cy="1727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53640926-AAD7-44D8-BBD7-CCE9431645EC}">
                    <a14:shadowObscured xmlns:a14="http://schemas.microsoft.com/office/drawing/2010/main"/>
                  </a:ext>
                </a:extLst>
              </p:spPr>
            </p:pic>
            <p:pic>
              <p:nvPicPr>
                <p:cNvPr id="27" name="Picture 26" descr="C:\Users\PC\Downloads\correct_NORMAL.png"/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" r="67357"/>
                <a:stretch/>
              </p:blipFill>
              <p:spPr bwMode="auto">
                <a:xfrm>
                  <a:off x="3098800" y="6350"/>
                  <a:ext cx="1543050" cy="17208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53640926-AAD7-44D8-BBD7-CCE9431645EC}">
                    <a14:shadowObscured xmlns:a14="http://schemas.microsoft.com/office/drawing/2010/main"/>
                  </a:ext>
                </a:extLst>
              </p:spPr>
            </p:pic>
            <p:pic>
              <p:nvPicPr>
                <p:cNvPr id="28" name="Picture 27" descr="C:\Users\PC\Downloads\correct_NORMAL.png"/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6808" r="556"/>
                <a:stretch/>
              </p:blipFill>
              <p:spPr bwMode="auto">
                <a:xfrm>
                  <a:off x="4641850" y="0"/>
                  <a:ext cx="1543050" cy="17208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53640926-AAD7-44D8-BBD7-CCE9431645EC}">
                    <a14:shadowObscured xmlns:a14="http://schemas.microsoft.com/office/drawing/2010/main"/>
                  </a:ext>
                </a:extLst>
              </p:spPr>
            </p:pic>
          </p:grpSp>
          <p:grpSp>
            <p:nvGrpSpPr>
              <p:cNvPr id="18" name="Group 17"/>
              <p:cNvGrpSpPr/>
              <p:nvPr/>
            </p:nvGrpSpPr>
            <p:grpSpPr>
              <a:xfrm>
                <a:off x="0" y="0"/>
                <a:ext cx="6178550" cy="1720850"/>
                <a:chOff x="0" y="0"/>
                <a:chExt cx="6178550" cy="1720850"/>
              </a:xfrm>
            </p:grpSpPr>
            <p:grpSp>
              <p:nvGrpSpPr>
                <p:cNvPr id="19" name="Group 18"/>
                <p:cNvGrpSpPr/>
                <p:nvPr/>
              </p:nvGrpSpPr>
              <p:grpSpPr>
                <a:xfrm>
                  <a:off x="3079750" y="0"/>
                  <a:ext cx="3098800" cy="1720850"/>
                  <a:chOff x="0" y="0"/>
                  <a:chExt cx="3098800" cy="1720850"/>
                </a:xfrm>
              </p:grpSpPr>
              <p:pic>
                <p:nvPicPr>
                  <p:cNvPr id="23" name="Picture 22" descr="C:\Users\PC\Downloads\correct_DME.png"/>
                  <p:cNvPicPr>
                    <a:picLocks noChangeAspect="1"/>
                  </p:cNvPicPr>
                  <p:nvPr/>
                </p:nvPicPr>
                <p:blipFill rotWithShape="1"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0" r="67221"/>
                  <a:stretch/>
                </p:blipFill>
                <p:spPr bwMode="auto">
                  <a:xfrm>
                    <a:off x="0" y="0"/>
                    <a:ext cx="1549400" cy="17208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53640926-AAD7-44D8-BBD7-CCE9431645EC}">
                      <a14:shadowObscured xmlns:a14="http://schemas.microsoft.com/office/drawing/2010/main"/>
                    </a:ext>
                  </a:extLst>
                </p:spPr>
              </p:pic>
              <p:pic>
                <p:nvPicPr>
                  <p:cNvPr id="24" name="Picture 23" descr="C:\Users\PC\Downloads\correct_DME.png"/>
                  <p:cNvPicPr>
                    <a:picLocks noChangeAspect="1"/>
                  </p:cNvPicPr>
                  <p:nvPr/>
                </p:nvPicPr>
                <p:blipFill rotWithShape="1"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6448" r="782"/>
                  <a:stretch/>
                </p:blipFill>
                <p:spPr bwMode="auto">
                  <a:xfrm>
                    <a:off x="1549400" y="0"/>
                    <a:ext cx="1549400" cy="17208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53640926-AAD7-44D8-BBD7-CCE9431645EC}">
                      <a14:shadowObscured xmlns:a14="http://schemas.microsoft.com/office/drawing/2010/main"/>
                    </a:ext>
                  </a:extLst>
                </p:spPr>
              </p:pic>
            </p:grpSp>
            <p:grpSp>
              <p:nvGrpSpPr>
                <p:cNvPr id="20" name="Group 19"/>
                <p:cNvGrpSpPr/>
                <p:nvPr/>
              </p:nvGrpSpPr>
              <p:grpSpPr>
                <a:xfrm>
                  <a:off x="0" y="0"/>
                  <a:ext cx="3098800" cy="1720850"/>
                  <a:chOff x="0" y="0"/>
                  <a:chExt cx="3098800" cy="1720850"/>
                </a:xfrm>
              </p:grpSpPr>
              <p:pic>
                <p:nvPicPr>
                  <p:cNvPr id="21" name="Picture 20" descr="C:\Users\PC\Downloads\correct_CNV.png"/>
                  <p:cNvPicPr>
                    <a:picLocks noChangeAspect="1"/>
                  </p:cNvPicPr>
                  <p:nvPr/>
                </p:nvPicPr>
                <p:blipFill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0" r="67221"/>
                  <a:stretch/>
                </p:blipFill>
                <p:spPr bwMode="auto">
                  <a:xfrm>
                    <a:off x="0" y="0"/>
                    <a:ext cx="1549400" cy="17208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53640926-AAD7-44D8-BBD7-CCE9431645EC}">
                      <a14:shadowObscured xmlns:a14="http://schemas.microsoft.com/office/drawing/2010/main"/>
                    </a:ext>
                  </a:extLst>
                </p:spPr>
              </p:pic>
              <p:pic>
                <p:nvPicPr>
                  <p:cNvPr id="22" name="Picture 21" descr="C:\Users\PC\Downloads\correct_CNV.png"/>
                  <p:cNvPicPr>
                    <a:picLocks noChangeAspect="1"/>
                  </p:cNvPicPr>
                  <p:nvPr/>
                </p:nvPicPr>
                <p:blipFill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6448" r="782"/>
                  <a:stretch/>
                </p:blipFill>
                <p:spPr bwMode="auto">
                  <a:xfrm>
                    <a:off x="1549400" y="0"/>
                    <a:ext cx="1549400" cy="17208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53640926-AAD7-44D8-BBD7-CCE9431645EC}">
                      <a14:shadowObscured xmlns:a14="http://schemas.microsoft.com/office/drawing/2010/main"/>
                    </a:ext>
                  </a:extLst>
                </p:spPr>
              </p:pic>
            </p:grpSp>
          </p:grpSp>
        </p:grpSp>
        <p:grpSp>
          <p:nvGrpSpPr>
            <p:cNvPr id="7" name="Group 6"/>
            <p:cNvGrpSpPr/>
            <p:nvPr/>
          </p:nvGrpSpPr>
          <p:grpSpPr>
            <a:xfrm>
              <a:off x="273050" y="260350"/>
              <a:ext cx="5051425" cy="340360"/>
              <a:chOff x="0" y="0"/>
              <a:chExt cx="5051425" cy="340360"/>
            </a:xfrm>
          </p:grpSpPr>
          <p:sp>
            <p:nvSpPr>
              <p:cNvPr id="13" name="Text Box 2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12115" cy="3403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US" sz="1100" b="1" dirty="0">
                    <a:solidFill>
                      <a:srgbClr val="FFFFFF"/>
                    </a:solidFill>
                    <a:effectLst/>
                    <a:latin typeface="Calibri"/>
                    <a:ea typeface="Calibri"/>
                    <a:cs typeface="Arial"/>
                  </a:rPr>
                  <a:t>(a)</a:t>
                </a:r>
                <a:endParaRPr lang="el-GR" sz="1100" dirty="0">
                  <a:effectLst/>
                  <a:latin typeface="Calibri"/>
                  <a:ea typeface="Calibri"/>
                  <a:cs typeface="Arial"/>
                </a:endParaRPr>
              </a:p>
            </p:txBody>
          </p:sp>
          <p:sp>
            <p:nvSpPr>
              <p:cNvPr id="14" name="Text Box 2"/>
              <p:cNvSpPr txBox="1">
                <a:spLocks noChangeArrowheads="1"/>
              </p:cNvSpPr>
              <p:nvPr/>
            </p:nvSpPr>
            <p:spPr bwMode="auto">
              <a:xfrm>
                <a:off x="1574800" y="0"/>
                <a:ext cx="396875" cy="3403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US" sz="1100" b="1" dirty="0">
                    <a:solidFill>
                      <a:srgbClr val="FFFFFF"/>
                    </a:solidFill>
                    <a:effectLst/>
                    <a:latin typeface="Calibri"/>
                    <a:ea typeface="Calibri"/>
                    <a:cs typeface="Arial"/>
                  </a:rPr>
                  <a:t>(b)</a:t>
                </a:r>
                <a:endParaRPr lang="el-GR" sz="1100" dirty="0">
                  <a:effectLst/>
                  <a:latin typeface="Calibri"/>
                  <a:ea typeface="Calibri"/>
                  <a:cs typeface="Arial"/>
                </a:endParaRPr>
              </a:p>
            </p:txBody>
          </p:sp>
          <p:sp>
            <p:nvSpPr>
              <p:cNvPr id="15" name="Text Box 2"/>
              <p:cNvSpPr txBox="1">
                <a:spLocks noChangeArrowheads="1"/>
              </p:cNvSpPr>
              <p:nvPr/>
            </p:nvSpPr>
            <p:spPr bwMode="auto">
              <a:xfrm>
                <a:off x="3098800" y="0"/>
                <a:ext cx="405765" cy="3403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US" sz="1100" b="1" dirty="0">
                    <a:solidFill>
                      <a:srgbClr val="FFFFFF"/>
                    </a:solidFill>
                    <a:effectLst/>
                    <a:latin typeface="Calibri"/>
                    <a:ea typeface="Calibri"/>
                    <a:cs typeface="Arial"/>
                  </a:rPr>
                  <a:t>(c)</a:t>
                </a:r>
                <a:endParaRPr lang="el-GR" sz="1100" dirty="0">
                  <a:effectLst/>
                  <a:latin typeface="Calibri"/>
                  <a:ea typeface="Calibri"/>
                  <a:cs typeface="Arial"/>
                </a:endParaRPr>
              </a:p>
            </p:txBody>
          </p:sp>
          <p:sp>
            <p:nvSpPr>
              <p:cNvPr id="16" name="Text Box 2"/>
              <p:cNvSpPr txBox="1">
                <a:spLocks noChangeArrowheads="1"/>
              </p:cNvSpPr>
              <p:nvPr/>
            </p:nvSpPr>
            <p:spPr bwMode="auto">
              <a:xfrm>
                <a:off x="4654550" y="0"/>
                <a:ext cx="396875" cy="3403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US" sz="1100" b="1" dirty="0">
                    <a:solidFill>
                      <a:srgbClr val="FFFFFF"/>
                    </a:solidFill>
                    <a:effectLst/>
                    <a:latin typeface="Calibri"/>
                    <a:ea typeface="Calibri"/>
                    <a:cs typeface="Arial"/>
                  </a:rPr>
                  <a:t>(d)</a:t>
                </a:r>
                <a:endParaRPr lang="el-GR" sz="1100" dirty="0">
                  <a:effectLst/>
                  <a:latin typeface="Calibri"/>
                  <a:ea typeface="Calibri"/>
                  <a:cs typeface="Arial"/>
                </a:endParaRP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273050" y="1924050"/>
              <a:ext cx="5051425" cy="340360"/>
              <a:chOff x="0" y="0"/>
              <a:chExt cx="5051425" cy="340360"/>
            </a:xfrm>
          </p:grpSpPr>
          <p:sp>
            <p:nvSpPr>
              <p:cNvPr id="9" name="Text Box 2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12115" cy="3403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US" sz="1100" b="1" dirty="0">
                    <a:solidFill>
                      <a:srgbClr val="FFFFFF"/>
                    </a:solidFill>
                    <a:effectLst/>
                    <a:latin typeface="Calibri"/>
                    <a:ea typeface="Calibri"/>
                    <a:cs typeface="Arial"/>
                  </a:rPr>
                  <a:t>(e)</a:t>
                </a:r>
                <a:endParaRPr lang="el-GR" sz="1100" dirty="0">
                  <a:effectLst/>
                  <a:latin typeface="Calibri"/>
                  <a:ea typeface="Calibri"/>
                  <a:cs typeface="Arial"/>
                </a:endParaRPr>
              </a:p>
            </p:txBody>
          </p:sp>
          <p:sp>
            <p:nvSpPr>
              <p:cNvPr id="10" name="Text Box 2"/>
              <p:cNvSpPr txBox="1">
                <a:spLocks noChangeArrowheads="1"/>
              </p:cNvSpPr>
              <p:nvPr/>
            </p:nvSpPr>
            <p:spPr bwMode="auto">
              <a:xfrm>
                <a:off x="1574800" y="0"/>
                <a:ext cx="396875" cy="3403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US" sz="1100" b="1" dirty="0">
                    <a:solidFill>
                      <a:srgbClr val="FFFFFF"/>
                    </a:solidFill>
                    <a:effectLst/>
                    <a:latin typeface="Calibri"/>
                    <a:ea typeface="Calibri"/>
                    <a:cs typeface="Arial"/>
                  </a:rPr>
                  <a:t>(f)</a:t>
                </a:r>
                <a:endParaRPr lang="el-GR" sz="1100" dirty="0">
                  <a:effectLst/>
                  <a:latin typeface="Calibri"/>
                  <a:ea typeface="Calibri"/>
                  <a:cs typeface="Arial"/>
                </a:endParaRPr>
              </a:p>
            </p:txBody>
          </p:sp>
          <p:sp>
            <p:nvSpPr>
              <p:cNvPr id="11" name="Text Box 2"/>
              <p:cNvSpPr txBox="1">
                <a:spLocks noChangeArrowheads="1"/>
              </p:cNvSpPr>
              <p:nvPr/>
            </p:nvSpPr>
            <p:spPr bwMode="auto">
              <a:xfrm>
                <a:off x="3098800" y="0"/>
                <a:ext cx="405765" cy="3403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US" sz="1100" b="1" dirty="0">
                    <a:solidFill>
                      <a:srgbClr val="FFFFFF"/>
                    </a:solidFill>
                    <a:effectLst/>
                    <a:latin typeface="Calibri"/>
                    <a:ea typeface="Calibri"/>
                    <a:cs typeface="Arial"/>
                  </a:rPr>
                  <a:t>(g)</a:t>
                </a:r>
                <a:endParaRPr lang="el-GR" sz="1100" dirty="0">
                  <a:effectLst/>
                  <a:latin typeface="Calibri"/>
                  <a:ea typeface="Calibri"/>
                  <a:cs typeface="Arial"/>
                </a:endParaRPr>
              </a:p>
            </p:txBody>
          </p:sp>
          <p:sp>
            <p:nvSpPr>
              <p:cNvPr id="12" name="Text Box 2"/>
              <p:cNvSpPr txBox="1">
                <a:spLocks noChangeArrowheads="1"/>
              </p:cNvSpPr>
              <p:nvPr/>
            </p:nvSpPr>
            <p:spPr bwMode="auto">
              <a:xfrm>
                <a:off x="4654550" y="0"/>
                <a:ext cx="396875" cy="3403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US" sz="1100" b="1" dirty="0">
                    <a:solidFill>
                      <a:srgbClr val="FFFFFF"/>
                    </a:solidFill>
                    <a:effectLst/>
                    <a:latin typeface="Calibri"/>
                    <a:ea typeface="Calibri"/>
                    <a:cs typeface="Arial"/>
                  </a:rPr>
                  <a:t>(h)</a:t>
                </a:r>
                <a:endParaRPr lang="el-GR" sz="1100" dirty="0">
                  <a:effectLst/>
                  <a:latin typeface="Calibri"/>
                  <a:ea typeface="Calibri"/>
                  <a:cs typeface="Arial"/>
                </a:endParaRPr>
              </a:p>
            </p:txBody>
          </p:sp>
        </p:grpSp>
      </p:grpSp>
      <p:sp>
        <p:nvSpPr>
          <p:cNvPr id="29" name="Rectangle 28"/>
          <p:cNvSpPr/>
          <p:nvPr/>
        </p:nvSpPr>
        <p:spPr>
          <a:xfrm>
            <a:off x="407670" y="6324600"/>
            <a:ext cx="84048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/>
              <a:t>GitHub</a:t>
            </a:r>
            <a:r>
              <a:rPr lang="en-US" sz="1400" dirty="0"/>
              <a:t> repository [available at: https://github.com/ManosGitProject/oct_retinal_classification_hackathon_V1].</a:t>
            </a:r>
            <a:endParaRPr lang="el-GR" sz="1400" dirty="0"/>
          </a:p>
        </p:txBody>
      </p:sp>
      <p:sp>
        <p:nvSpPr>
          <p:cNvPr id="2" name="Rectangle 1"/>
          <p:cNvSpPr/>
          <p:nvPr/>
        </p:nvSpPr>
        <p:spPr>
          <a:xfrm>
            <a:off x="114300" y="3233678"/>
            <a:ext cx="2590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b="1" dirty="0"/>
              <a:t>Grad-CAM</a:t>
            </a:r>
            <a:r>
              <a:rPr lang="en-US" sz="1200" dirty="0"/>
              <a:t> examples of correctly classified OCT images across all categories based on the </a:t>
            </a:r>
            <a:r>
              <a:rPr lang="en-US" sz="1200" dirty="0" err="1"/>
              <a:t>DenseNet</a:t>
            </a:r>
            <a:r>
              <a:rPr lang="en-US" sz="1200" dirty="0"/>
              <a:t> (</a:t>
            </a:r>
            <a:r>
              <a:rPr lang="en-US" sz="1200" u="sng" dirty="0"/>
              <a:t>augmented</a:t>
            </a:r>
            <a:r>
              <a:rPr lang="en-US" sz="1200" dirty="0"/>
              <a:t> and </a:t>
            </a:r>
            <a:r>
              <a:rPr lang="en-US" sz="1200" u="sng" dirty="0"/>
              <a:t>refined</a:t>
            </a:r>
            <a:r>
              <a:rPr lang="en-US" sz="1200" dirty="0"/>
              <a:t>) model .</a:t>
            </a:r>
          </a:p>
          <a:p>
            <a:pPr algn="just"/>
            <a:endParaRPr lang="en-US" sz="1200" dirty="0"/>
          </a:p>
          <a:p>
            <a:pPr algn="just"/>
            <a:r>
              <a:rPr lang="en-US" sz="1200" dirty="0"/>
              <a:t>Overlay </a:t>
            </a:r>
            <a:r>
              <a:rPr lang="en-US" sz="1200" dirty="0" err="1"/>
              <a:t>heatmaps</a:t>
            </a:r>
            <a:r>
              <a:rPr lang="en-US" sz="1200" dirty="0"/>
              <a:t> illustrate the </a:t>
            </a:r>
            <a:r>
              <a:rPr lang="en-US" sz="1200" u="sng" dirty="0"/>
              <a:t>class-specific activation regions</a:t>
            </a:r>
            <a:r>
              <a:rPr lang="en-US" sz="1200" dirty="0"/>
              <a:t>, demonstrating that the network focuses on </a:t>
            </a:r>
            <a:r>
              <a:rPr lang="en-US" sz="1200" u="sng" dirty="0"/>
              <a:t>clinically relevant retinal structures</a:t>
            </a:r>
            <a:r>
              <a:rPr lang="en-US" sz="1200" dirty="0"/>
              <a:t> associated with each pathology. </a:t>
            </a:r>
          </a:p>
          <a:p>
            <a:pPr algn="just"/>
            <a:endParaRPr lang="en-US" sz="1200" dirty="0"/>
          </a:p>
          <a:p>
            <a:pPr algn="just"/>
            <a:r>
              <a:rPr lang="en-US" sz="1200" dirty="0"/>
              <a:t>Refined configuration reinforces its </a:t>
            </a:r>
            <a:r>
              <a:rPr lang="en-US" sz="1200" u="sng" dirty="0"/>
              <a:t>potential reliability</a:t>
            </a:r>
            <a:r>
              <a:rPr lang="en-US" sz="1200" dirty="0"/>
              <a:t> for clinical decision-support applications</a:t>
            </a:r>
            <a:endParaRPr lang="el-GR" sz="1200" dirty="0"/>
          </a:p>
        </p:txBody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457200" y="22860"/>
            <a:ext cx="8229600" cy="739140"/>
          </a:xfrm>
        </p:spPr>
        <p:txBody>
          <a:bodyPr>
            <a:normAutofit/>
          </a:bodyPr>
          <a:lstStyle/>
          <a:p>
            <a:r>
              <a:rPr lang="en-US" sz="2400" b="1" dirty="0"/>
              <a:t>Overall results and Grad-CAM visualization</a:t>
            </a:r>
            <a:endParaRPr lang="el-GR" sz="2400" b="1" dirty="0"/>
          </a:p>
        </p:txBody>
      </p:sp>
      <p:sp>
        <p:nvSpPr>
          <p:cNvPr id="31" name="Rectangle 30"/>
          <p:cNvSpPr/>
          <p:nvPr/>
        </p:nvSpPr>
        <p:spPr>
          <a:xfrm>
            <a:off x="38100" y="687546"/>
            <a:ext cx="25908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u="sng" dirty="0" err="1"/>
              <a:t>DensNet</a:t>
            </a:r>
            <a:r>
              <a:rPr lang="en-US" sz="1200" u="sng" dirty="0"/>
              <a:t>-Aug model outperforms </a:t>
            </a:r>
            <a:r>
              <a:rPr lang="en-US" sz="1200" dirty="0"/>
              <a:t>slightly </a:t>
            </a:r>
            <a:r>
              <a:rPr lang="en-US" sz="1200" dirty="0" err="1"/>
              <a:t>ResNet</a:t>
            </a:r>
            <a:r>
              <a:rPr lang="en-US" sz="1200" dirty="0"/>
              <a:t>-Aug in terms of Accuracy, Precision, Recall and F1-score. </a:t>
            </a:r>
          </a:p>
          <a:p>
            <a:pPr algn="just"/>
            <a:endParaRPr lang="en-US" sz="1200" dirty="0"/>
          </a:p>
          <a:p>
            <a:pPr algn="just"/>
            <a:r>
              <a:rPr lang="en-US" sz="1200" dirty="0" err="1"/>
              <a:t>DensNet</a:t>
            </a:r>
            <a:r>
              <a:rPr lang="en-US" sz="1200" dirty="0"/>
              <a:t>-Aug with Hard-Case and Temperature Scaling has an increase in ECE compared to no refinement. This is caused due to the drop in Recall.</a:t>
            </a:r>
          </a:p>
          <a:p>
            <a:pPr algn="just"/>
            <a:endParaRPr lang="en-US" sz="1200" dirty="0"/>
          </a:p>
          <a:p>
            <a:pPr algn="just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93147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D023DB0-311E-382C-8BD4-7970782DE5D5}"/>
              </a:ext>
            </a:extLst>
          </p:cNvPr>
          <p:cNvSpPr txBox="1"/>
          <p:nvPr/>
        </p:nvSpPr>
        <p:spPr>
          <a:xfrm>
            <a:off x="304801" y="228600"/>
            <a:ext cx="853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sz="2400" b="1" smtClean="0"/>
              <a:t>Interpretability </a:t>
            </a:r>
            <a:r>
              <a:rPr lang="x-none" sz="2400" b="1" dirty="0"/>
              <a:t>– Occlusion Sensitivity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DA6F5A9-D1BA-7871-338F-AB21A580E37A}"/>
              </a:ext>
            </a:extLst>
          </p:cNvPr>
          <p:cNvSpPr txBox="1"/>
          <p:nvPr/>
        </p:nvSpPr>
        <p:spPr>
          <a:xfrm>
            <a:off x="946198" y="4812268"/>
            <a:ext cx="256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dirty="0">
                <a:solidFill>
                  <a:srgbClr val="FF0000"/>
                </a:solidFill>
              </a:rPr>
              <a:t>Also captures some noise</a:t>
            </a:r>
          </a:p>
        </p:txBody>
      </p:sp>
      <p:sp>
        <p:nvSpPr>
          <p:cNvPr id="2" name="Rectangle 1"/>
          <p:cNvSpPr/>
          <p:nvPr/>
        </p:nvSpPr>
        <p:spPr>
          <a:xfrm>
            <a:off x="76200" y="1197428"/>
            <a:ext cx="48768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Occlusion Sensitivity </a:t>
            </a:r>
            <a:r>
              <a:rPr lang="en-US" sz="1400" dirty="0" smtClean="0"/>
              <a:t>technique is used </a:t>
            </a:r>
            <a:r>
              <a:rPr lang="en-US" sz="1400" dirty="0"/>
              <a:t>to understand how a CNN makes decisions</a:t>
            </a:r>
            <a:r>
              <a:rPr lang="en-US" sz="1400" dirty="0" smtClean="0"/>
              <a:t>.</a:t>
            </a:r>
          </a:p>
          <a:p>
            <a:endParaRPr lang="en-US" sz="1400" dirty="0"/>
          </a:p>
          <a:p>
            <a:r>
              <a:rPr lang="en-US" sz="1400" dirty="0" smtClean="0"/>
              <a:t>Works </a:t>
            </a:r>
            <a:r>
              <a:rPr lang="en-US" sz="1400" dirty="0"/>
              <a:t>by covering (occluding) small parts of an input image and observing how the model’s prediction changes</a:t>
            </a:r>
            <a:r>
              <a:rPr lang="en-US" sz="1400" dirty="0" smtClean="0"/>
              <a:t>.</a:t>
            </a:r>
          </a:p>
          <a:p>
            <a:endParaRPr lang="en-US" sz="1400" dirty="0"/>
          </a:p>
          <a:p>
            <a:r>
              <a:rPr lang="en-US" sz="1400" dirty="0"/>
              <a:t>If blocking a region causes a large drop in confidence, that region is important for the decision</a:t>
            </a:r>
            <a:r>
              <a:rPr lang="en-US" sz="1400" dirty="0" smtClean="0"/>
              <a:t>.</a:t>
            </a:r>
          </a:p>
          <a:p>
            <a:endParaRPr lang="en-US" sz="1400" dirty="0"/>
          </a:p>
          <a:p>
            <a:endParaRPr lang="en-US" sz="1400" dirty="0" smtClean="0"/>
          </a:p>
          <a:p>
            <a:r>
              <a:rPr lang="en-US" sz="1400" b="1" dirty="0"/>
              <a:t>Hide part → Check prediction change → Measure importance</a:t>
            </a:r>
            <a:r>
              <a:rPr lang="en-US" sz="1400" dirty="0"/>
              <a:t>.</a:t>
            </a:r>
            <a:endParaRPr lang="el-GR" sz="1400" dirty="0"/>
          </a:p>
        </p:txBody>
      </p:sp>
      <p:pic>
        <p:nvPicPr>
          <p:cNvPr id="1026" name="Picture 2" descr="C:\Users\PC\Downloads\occlus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208" y="872116"/>
            <a:ext cx="4397363" cy="4919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18DC41E-0279-CBEA-6ED7-D98D5E4525C9}"/>
              </a:ext>
            </a:extLst>
          </p:cNvPr>
          <p:cNvSpPr txBox="1"/>
          <p:nvPr/>
        </p:nvSpPr>
        <p:spPr>
          <a:xfrm>
            <a:off x="609600" y="4016828"/>
            <a:ext cx="341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>
                <a:solidFill>
                  <a:srgbClr val="00B050"/>
                </a:solidFill>
              </a:rPr>
              <a:t>Captures the “lump” in </a:t>
            </a:r>
            <a:r>
              <a:rPr lang="x-none">
                <a:solidFill>
                  <a:srgbClr val="00B050"/>
                </a:solidFill>
              </a:rPr>
              <a:t>the </a:t>
            </a:r>
            <a:r>
              <a:rPr lang="x-none" smtClean="0">
                <a:solidFill>
                  <a:srgbClr val="00B050"/>
                </a:solidFill>
              </a:rPr>
              <a:t>middle</a:t>
            </a:r>
            <a:endParaRPr lang="x-none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243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457200" y="1470660"/>
            <a:ext cx="8229600" cy="1882140"/>
          </a:xfrm>
        </p:spPr>
        <p:txBody>
          <a:bodyPr>
            <a:normAutofit/>
          </a:bodyPr>
          <a:lstStyle/>
          <a:p>
            <a:r>
              <a:rPr lang="en-US" sz="2800" b="1" dirty="0"/>
              <a:t>Thank you </a:t>
            </a:r>
            <a:br>
              <a:rPr lang="en-US" sz="2800" b="1" dirty="0"/>
            </a:br>
            <a:r>
              <a:rPr lang="en-US" sz="2800" b="1" dirty="0"/>
              <a:t>for </a:t>
            </a:r>
            <a:br>
              <a:rPr lang="en-US" sz="2800" b="1" dirty="0"/>
            </a:br>
            <a:r>
              <a:rPr lang="en-US" sz="2800" b="1" dirty="0"/>
              <a:t>your attention</a:t>
            </a:r>
            <a:endParaRPr lang="el-GR" sz="2800" b="1" dirty="0"/>
          </a:p>
        </p:txBody>
      </p:sp>
    </p:spTree>
    <p:extLst>
      <p:ext uri="{BB962C8B-B14F-4D97-AF65-F5344CB8AC3E}">
        <p14:creationId xmlns:p14="http://schemas.microsoft.com/office/powerpoint/2010/main" val="1749399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1232</Words>
  <Application>Microsoft Office PowerPoint</Application>
  <PresentationFormat>On-screen Show (4:3)</PresentationFormat>
  <Paragraphs>226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“ResNet-18 and DenseNet-121 Architectures for OCT Retinal Analysis: Effects of Transfer Learning, Data Augmentation, Fine-Tuning Strategies and Model Calibration”</vt:lpstr>
      <vt:lpstr>Retinal diseases and OCT-scans for detection</vt:lpstr>
      <vt:lpstr>Convolutional Neural Network (CNN) architectures</vt:lpstr>
      <vt:lpstr>Training Phase  of “Base” CNNs</vt:lpstr>
      <vt:lpstr>Training Phase  of CNNs including “Augmentation”</vt:lpstr>
      <vt:lpstr>Effects of “Class-Specific Refinement” and “Temperature Scaling”</vt:lpstr>
      <vt:lpstr>Overall results and Grad-CAM visualization</vt:lpstr>
      <vt:lpstr>PowerPoint Presentation</vt:lpstr>
      <vt:lpstr>Thank you  for  your attention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172</cp:revision>
  <dcterms:created xsi:type="dcterms:W3CDTF">2006-08-16T00:00:00Z</dcterms:created>
  <dcterms:modified xsi:type="dcterms:W3CDTF">2026-03-04T08:03:45Z</dcterms:modified>
</cp:coreProperties>
</file>